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Брошены на середине</c:v>
                </c:pt>
              </c:strCache>
            </c:strRef>
          </c:tx>
          <c:spPr>
            <a:solidFill>
              <a:srgbClr val="C55A11"/>
            </a:solidFill>
            <a:ln>
              <a:solidFill>
                <a:srgbClr val="C55A11"/>
              </a:solidFill>
            </a:ln>
          </c:spPr>
          <c:cat>
            <c:strRef>
              <c:f>Sheet1!$A$2:$A$3</c:f>
              <c:strCache>
                <c:ptCount val="2"/>
                <c:pt idx="0">
                  <c:v>Другой вуз
и специальность</c:v>
                </c:pt>
                <c:pt idx="1">
                  <c:v>Только
пятёрки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96.8</c:v>
                </c:pt>
                <c:pt idx="1">
                  <c:v>93.0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Завершённые</c:v>
                </c:pt>
              </c:strCache>
            </c:strRef>
          </c:tx>
          <c:spPr>
            <a:solidFill>
              <a:srgbClr val="FFD966"/>
            </a:solidFill>
            <a:ln>
              <a:solidFill>
                <a:srgbClr val="FFD966"/>
              </a:solidFill>
            </a:ln>
          </c:spPr>
          <c:cat>
            <c:strRef>
              <c:f>Sheet1!$A$2:$A$3</c:f>
              <c:strCache>
                <c:ptCount val="2"/>
                <c:pt idx="0">
                  <c:v>Другой вуз
и специальность</c:v>
                </c:pt>
                <c:pt idx="1">
                  <c:v>Только
пятёрки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19.7</c:v>
                </c:pt>
                <c:pt idx="1">
                  <c:v>22.0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 val="0"/>
        <c:axPos val="l"/>
        <c:numFmt formatCode="0" sourceLinked="0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latin typeface="Trebuchet M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3 курс</c:v>
                </c:pt>
              </c:strCache>
            </c:strRef>
          </c:tx>
          <c:spPr>
            <a:solidFill>
              <a:srgbClr val="FFD966"/>
            </a:solidFill>
            <a:ln>
              <a:solidFill>
                <a:srgbClr val="FFD966"/>
              </a:solidFill>
            </a:ln>
          </c:spPr>
          <c:cat>
            <c:strRef>
              <c:f>Sheet1!$A$2:$A$5</c:f>
              <c:strCache>
                <c:ptCount val="4"/>
                <c:pt idx="0">
                  <c:v>Полный день</c:v>
                </c:pt>
                <c:pt idx="1">
                  <c:v>Неполный день</c:v>
                </c:pt>
                <c:pt idx="2">
                  <c:v>Приработки</c:v>
                </c:pt>
                <c:pt idx="3">
                  <c:v>Не работает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4.0</c:v>
                </c:pt>
                <c:pt idx="1">
                  <c:v>21.0</c:v>
                </c:pt>
                <c:pt idx="2">
                  <c:v>19.0</c:v>
                </c:pt>
                <c:pt idx="3">
                  <c:v>56.0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 курс</c:v>
                </c:pt>
              </c:strCache>
            </c:strRef>
          </c:tx>
          <c:spPr>
            <a:solidFill>
              <a:srgbClr val="C55A11"/>
            </a:solidFill>
            <a:ln>
              <a:solidFill>
                <a:srgbClr val="C55A11"/>
              </a:solidFill>
            </a:ln>
          </c:spPr>
          <c:cat>
            <c:strRef>
              <c:f>Sheet1!$A$2:$A$5</c:f>
              <c:strCache>
                <c:ptCount val="4"/>
                <c:pt idx="0">
                  <c:v>Полный день</c:v>
                </c:pt>
                <c:pt idx="1">
                  <c:v>Неполный день</c:v>
                </c:pt>
                <c:pt idx="2">
                  <c:v>Приработки</c:v>
                </c:pt>
                <c:pt idx="3">
                  <c:v>Не работает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9.2</c:v>
                </c:pt>
                <c:pt idx="1">
                  <c:v>20.4</c:v>
                </c:pt>
                <c:pt idx="2">
                  <c:v>18.7</c:v>
                </c:pt>
                <c:pt idx="3">
                  <c:v>51.8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5.0"/>
          <c:min val="0.0"/>
        </c:scaling>
        <c:delete val="0"/>
        <c:axPos val="l"/>
        <c:numFmt formatCode="0" sourceLinked="0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latin typeface="Trebuchet M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3 курс</c:v>
                </c:pt>
              </c:strCache>
            </c:strRef>
          </c:tx>
          <c:spPr>
            <a:solidFill>
              <a:srgbClr val="FFD966"/>
            </a:solidFill>
            <a:ln>
              <a:solidFill>
                <a:srgbClr val="FFD966"/>
              </a:solidFill>
            </a:ln>
          </c:spPr>
          <c:cat>
            <c:strRef>
              <c:f>Sheet1!$A$2:$A$5</c:f>
              <c:strCache>
                <c:ptCount val="4"/>
                <c:pt idx="0">
                  <c:v>Полный
день</c:v>
                </c:pt>
                <c:pt idx="1">
                  <c:v>Неполный
день</c:v>
                </c:pt>
                <c:pt idx="2">
                  <c:v>Приработки</c:v>
                </c:pt>
                <c:pt idx="3">
                  <c:v>Не
работает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45.8</c:v>
                </c:pt>
                <c:pt idx="1">
                  <c:v>61.1</c:v>
                </c:pt>
                <c:pt idx="2">
                  <c:v>53.8</c:v>
                </c:pt>
                <c:pt idx="3">
                  <c:v>54.0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 курс</c:v>
                </c:pt>
              </c:strCache>
            </c:strRef>
          </c:tx>
          <c:spPr>
            <a:solidFill>
              <a:srgbClr val="C55A11"/>
            </a:solidFill>
            <a:ln>
              <a:solidFill>
                <a:srgbClr val="C55A11"/>
              </a:solidFill>
            </a:ln>
          </c:spPr>
          <c:cat>
            <c:strRef>
              <c:f>Sheet1!$A$2:$A$5</c:f>
              <c:strCache>
                <c:ptCount val="4"/>
                <c:pt idx="0">
                  <c:v>Полный
день</c:v>
                </c:pt>
                <c:pt idx="1">
                  <c:v>Неполный
день</c:v>
                </c:pt>
                <c:pt idx="2">
                  <c:v>Приработки</c:v>
                </c:pt>
                <c:pt idx="3">
                  <c:v>Не
работает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54.9</c:v>
                </c:pt>
                <c:pt idx="1">
                  <c:v>61.5</c:v>
                </c:pt>
                <c:pt idx="2">
                  <c:v>54.9</c:v>
                </c:pt>
                <c:pt idx="3">
                  <c:v>63.3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numFmt formatCode="0" sourceLinked="0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latin typeface="Trebuchet M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Изменение, п.п.</c:v>
                </c:pt>
              </c:strCache>
            </c:strRef>
          </c:tx>
          <c:spPr>
            <a:solidFill>
              <a:srgbClr val="FFD966"/>
            </a:solidFill>
            <a:ln>
              <a:solidFill>
                <a:srgbClr val="FFD966"/>
              </a:solidFill>
            </a:ln>
          </c:spPr>
          <c:invertIfNegative val="0"/>
          <c:dPt>
            <c:idx val="1"/>
            <c:spPr>
              <a:solidFill>
                <a:srgbClr val="C55A11"/>
              </a:solidFill>
            </c:spPr>
          </c:dPt>
          <c:cat>
            <c:strRef>
              <c:f>Sheet1!$A$2:$A$5</c:f>
              <c:strCache>
                <c:ptCount val="4"/>
                <c:pt idx="0">
                  <c:v>Не работал</c:v>
                </c:pt>
                <c:pt idx="1">
                  <c:v>Начал работать</c:v>
                </c:pt>
                <c:pt idx="2">
                  <c:v>Перестал работать</c:v>
                </c:pt>
                <c:pt idx="3">
                  <c:v>Работал оба года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7.9</c:v>
                </c:pt>
                <c:pt idx="1">
                  <c:v>7.1</c:v>
                </c:pt>
                <c:pt idx="2">
                  <c:v>3.1</c:v>
                </c:pt>
                <c:pt idx="3">
                  <c:v>-1.7</c:v>
                </c:pt>
              </c:numCache>
            </c:numRef>
          </c:val>
        </c:ser>
        <c:dLbls>
          <c:numFmt formatCode="+0.0;−0.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0" sourceLinked="0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Trebuchet M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 курс</c:v>
                </c:pt>
              </c:strCache>
            </c:strRef>
          </c:tx>
          <c:spPr>
            <a:ln w="38100">
              <a:solidFill>
                <a:srgbClr val="C55A11"/>
              </a:solidFill>
            </a:ln>
          </c:spPr>
          <c:marker>
            <c:symbol val="circle"/>
            <c:size val="9"/>
            <c:spPr>
              <a:solidFill>
                <a:srgbClr val="C55A11"/>
              </a:solidFill>
              <a:ln>
                <a:solidFill>
                  <a:srgbClr val="C55A11"/>
                </a:solidFill>
              </a:ln>
            </c:spPr>
          </c:marker>
          <c:dLbls>
            <c:numFmt formatCode="0&quot;%&quot;" sourceLinked="0"/>
            <c:txPr>
              <a:bodyPr/>
              <a:lstStyle/>
              <a:p>
                <a:pPr>
                  <a:defRPr sz="1100"/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 ч</c:v>
                </c:pt>
                <c:pt idx="1">
                  <c:v>1–10</c:v>
                </c:pt>
                <c:pt idx="2">
                  <c:v>11–20</c:v>
                </c:pt>
                <c:pt idx="3">
                  <c:v>21–30</c:v>
                </c:pt>
                <c:pt idx="4">
                  <c:v>31+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20.0</c:v>
                </c:pt>
                <c:pt idx="1">
                  <c:v>23.7</c:v>
                </c:pt>
                <c:pt idx="2">
                  <c:v>20.9</c:v>
                </c:pt>
                <c:pt idx="3">
                  <c:v>29.7</c:v>
                </c:pt>
                <c:pt idx="4">
                  <c:v>38.2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 курс</c:v>
                </c:pt>
              </c:strCache>
            </c:strRef>
          </c:tx>
          <c:spPr>
            <a:ln w="38100">
              <a:solidFill>
                <a:srgbClr val="FFD966"/>
              </a:solidFill>
            </a:ln>
          </c:spPr>
          <c:marker>
            <c:symbol val="circle"/>
            <c:size val="9"/>
            <c:spPr>
              <a:solidFill>
                <a:srgbClr val="FFD966"/>
              </a:solidFill>
              <a:ln>
                <a:solidFill>
                  <a:srgbClr val="FFD966"/>
                </a:solidFill>
              </a:ln>
            </c:spPr>
          </c:marker>
          <c:dLbls>
            <c:numFmt formatCode="0&quot;%&quot;" sourceLinked="0"/>
            <c:txPr>
              <a:bodyPr/>
              <a:lstStyle/>
              <a:p>
                <a:pPr>
                  <a:defRPr sz="1100"/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 ч</c:v>
                </c:pt>
                <c:pt idx="1">
                  <c:v>1–10</c:v>
                </c:pt>
                <c:pt idx="2">
                  <c:v>11–20</c:v>
                </c:pt>
                <c:pt idx="3">
                  <c:v>21–30</c:v>
                </c:pt>
                <c:pt idx="4">
                  <c:v>31+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16.9</c:v>
                </c:pt>
                <c:pt idx="1">
                  <c:v>15.0</c:v>
                </c:pt>
                <c:pt idx="2">
                  <c:v>15.2</c:v>
                </c:pt>
                <c:pt idx="3">
                  <c:v>19.4</c:v>
                </c:pt>
                <c:pt idx="4">
                  <c:v>18.6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5.0"/>
          <c:min val="0.0"/>
        </c:scaling>
        <c:delete val="0"/>
        <c:axPos val="l"/>
        <c:numFmt formatCode="0" sourceLinked="0"/>
        <c:majorTickMark val="none"/>
        <c:minorTickMark val="none"/>
        <c:tickLblPos val="none"/>
        <c:spPr>
          <a:ln>
            <a:noFill/>
          </a:ln>
        </c:sp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Trebuchet M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Рост шансов</c:v>
                </c:pt>
              </c:strCache>
            </c:strRef>
          </c:tx>
          <c:spPr>
            <a:solidFill>
              <a:srgbClr val="C55A11"/>
            </a:solidFill>
            <a:ln>
              <a:solidFill>
                <a:srgbClr val="C55A11"/>
              </a:solidFill>
            </a:ln>
          </c:spPr>
          <c:cat>
            <c:strRef>
              <c:f>Sheet1!$A$2:$A$4</c:f>
              <c:strCache>
                <c:ptCount val="3"/>
                <c:pt idx="0">
                  <c:v>Неполный день</c:v>
                </c:pt>
                <c:pt idx="1">
                  <c:v>Приработки</c:v>
                </c:pt>
                <c:pt idx="2">
                  <c:v>Полный день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35</c:v>
                </c:pt>
                <c:pt idx="2">
                  <c:v>74</c:v>
                </c:pt>
              </c:numCache>
            </c:numRef>
          </c:val>
        </c:ser>
        <c:dLbls>
          <c:numFmt formatCode="&quot;+&quot;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5.0"/>
          <c:min val="0.0"/>
        </c:scaling>
        <c:delete val="0"/>
        <c:axPos val="b"/>
        <c:numFmt formatCode="0" sourceLinked="0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Trebuchet MS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По специальности</c:v>
                </c:pt>
              </c:strCache>
            </c:strRef>
          </c:tx>
          <c:spPr>
            <a:solidFill>
              <a:srgbClr val="C55A11"/>
            </a:solidFill>
            <a:ln>
              <a:solidFill>
                <a:srgbClr val="C55A11"/>
              </a:solidFill>
            </a:ln>
          </c:spPr>
          <c:cat>
            <c:strRef>
              <c:f>Sheet1!$A$2:$A$4</c:f>
              <c:strCache>
                <c:ptCount val="3"/>
                <c:pt idx="0">
                  <c:v>Работа помогает
учиться</c:v>
                </c:pt>
                <c:pt idx="1">
                  <c:v>Хорошие
оценки</c:v>
                </c:pt>
                <c:pt idx="2">
                  <c:v>Страдает
успеваемость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76.6</c:v>
                </c:pt>
                <c:pt idx="1">
                  <c:v>62.9</c:v>
                </c:pt>
                <c:pt idx="2">
                  <c:v>27.5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Не по специальности</c:v>
                </c:pt>
              </c:strCache>
            </c:strRef>
          </c:tx>
          <c:spPr>
            <a:solidFill>
              <a:srgbClr val="FFD966"/>
            </a:solidFill>
            <a:ln>
              <a:solidFill>
                <a:srgbClr val="FFD966"/>
              </a:solidFill>
            </a:ln>
          </c:spPr>
          <c:cat>
            <c:strRef>
              <c:f>Sheet1!$A$2:$A$4</c:f>
              <c:strCache>
                <c:ptCount val="3"/>
                <c:pt idx="0">
                  <c:v>Работа помогает
учиться</c:v>
                </c:pt>
                <c:pt idx="1">
                  <c:v>Хорошие
оценки</c:v>
                </c:pt>
                <c:pt idx="2">
                  <c:v>Страдает
успеваемость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35.9</c:v>
                </c:pt>
                <c:pt idx="1">
                  <c:v>51.0</c:v>
                </c:pt>
                <c:pt idx="2">
                  <c:v>27.4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5.0"/>
          <c:min val="0.0"/>
        </c:scaling>
        <c:delete val="0"/>
        <c:axPos val="l"/>
        <c:numFmt formatCode="0" sourceLinked="0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latin typeface="Trebuchet M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Мой проект — про студентов, которые совмещают учёбу и работу: когда работа помогает учиться, а когда мешает.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Почти половина студентов работает. Работа даёт опыт и деньги, но отнимает время у учёбы и сна. Среди тех, кто задумывался об отчислении, 25–30% называют причиной трудности совмещения учёбы и работы. Поэтому вопрос не «хорошо или плохо работать», а при каких условиях работа помогает, а при каких мешает.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Лонгитюд ИО НИУ ВШЭ «Модели образовательного поведения студентов в их связи с показателями успешности»: 9 селективных вузов, одни и те же студенты на 3 и 4 курсе. При проверке я нашёл 599 анкет 4-й волны, брошенных на середине и заполненных шаблонно, и очистил их ответы — иначе выводы были бы ложными.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Распределения не нормальные (тест Шапиро–Уилка), шкалы порядковые — поэтому Спирмен и Манн–Уитни вместо Пирсона и t-теста. Доли сравниваю хи-квадратом с V Крамера, изменения у одних и тех же студентов — критерием Уилкоксона. Результаты «да/нет» оцениваю логистической регрессией с контролем пола, направления, формы обучения и финансов семьи; ошибки кластеризованы по студенту.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Работают 44% на 3 курсе и 48% на 4-м, в основном неполный день и приработки. Полный день к 4 курсу встречается вдвое чаще. Около 70% работают ради денег, работа совпадает со специальностью примерно у половины.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Оценки работающих и неработающих не различаются (Манн–Уитни: p = 0.57 на 3 курсе и 0.15 на 4 курсе). В лонгитюде у тех, кто начал работать, доля хороших оценок выросла так же, как у неработающих (p = 0.80).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 30+ часах работы в неделю на 3 курсе меньше 7 часов спят 38% студентов против 20% у неработающих; регрессия: минус 28 минут сна (p = 0.008). При полной занятости шансы думать об отчислении выше на 74% (p = 0.004), неполный день значимо не связан (p = 0.16). 61% работающих полный день, думавших об отчислении, называют причиной совмещение учёбы и работы.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Работающие по специальности в 2 раза чаще говорят, что работа помогает учиться (77% против 36%), и чаще получают хорошие оценки (63% против 51%). В регрессии с учётом часов, мотива, пола и направления: OR = 6.2 и 1.6. Жалобы на трудности совмещения одинаковы. Работающим ради денег труднее совмещать (37% против 25%).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Главное: сама работа учёбе не вредит; трудности — при перегрузке; польза — от работы по специальности. Рекомендации: помогать находить профильную работу (стажировки, карьерные центры, зачёт как практики), гибкие планы для работающих полный день, учитывать полную занятость как фактор риска отчисления.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7 гипотез 5 подтвердились полностью или частично. Ограничения: данные опросные — связь не равна причинности; выборка из селективных вузов; отчислившиеся выпадают из данных, поэтому вред работы может быть недооценён.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65760"/>
            <a:ext cx="1005840" cy="1005840"/>
          </a:xfrm>
          <a:prstGeom prst="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05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11010"/>
                </a:solidFill>
                <a:latin typeface="Trebuchet MS"/>
              </a:rPr>
              <a:t>ИВО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11010"/>
                </a:solidFill>
                <a:latin typeface="Trebuchet MS"/>
              </a:rPr>
              <a:t>2026</a:t>
            </a:r>
          </a:p>
        </p:txBody>
      </p:sp>
      <p:pic>
        <p:nvPicPr>
          <p:cNvPr id="4" name="Picture 3" descr="stri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-822960"/>
            <a:ext cx="2926080" cy="2926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828800"/>
            <a:ext cx="786384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111010"/>
                </a:solidFill>
                <a:latin typeface="Trebuchet MS"/>
              </a:rPr>
              <a:t>Учёба + работа:</a:t>
            </a:r>
          </a:p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111010"/>
                </a:solidFill>
                <a:latin typeface="Trebuchet MS"/>
              </a:rPr>
              <a:t>польза или помеха?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2336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11010"/>
                </a:solidFill>
                <a:latin typeface="Trebuchet MS"/>
              </a:rPr>
              <a:t>Пётр Тортев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5262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848484"/>
                </a:solidFill>
                <a:latin typeface="Trebuchet MS"/>
              </a:rPr>
              <a:t>Номинация «Анализ данных»</a:t>
            </a:r>
          </a:p>
        </p:txBody>
      </p:sp>
      <p:pic>
        <p:nvPicPr>
          <p:cNvPr id="8" name="Мем" descr="s1_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743200"/>
            <a:ext cx="3017520" cy="301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400800"/>
            <a:ext cx="12191695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111010"/>
                </a:solidFill>
                <a:latin typeface="Trebuchet MS"/>
              </a:rPr>
              <a:t>ХАКАТОН ИССЛЕДОВАТЕЛЕЙ ВЫСШЕГО ОБРАЗОВАНИЯ – 2026 · НИУ ВШЭ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137160" y="164592"/>
            <a:ext cx="2514600" cy="384048"/>
          </a:xfrm>
          <a:prstGeom prst="homePlat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1">
                <a:solidFill>
                  <a:srgbClr val="111010"/>
                </a:solidFill>
                <a:latin typeface="Courier New"/>
              </a:rPr>
              <a:t>ВОПРОС</a:t>
            </a:r>
          </a:p>
        </p:txBody>
      </p:sp>
      <p:sp>
        <p:nvSpPr>
          <p:cNvPr id="3" name="Chevron 2"/>
          <p:cNvSpPr/>
          <p:nvPr/>
        </p:nvSpPr>
        <p:spPr>
          <a:xfrm>
            <a:off x="2468879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ДАННЫЕ</a:t>
            </a:r>
          </a:p>
        </p:txBody>
      </p:sp>
      <p:sp>
        <p:nvSpPr>
          <p:cNvPr id="4" name="Chevron 3"/>
          <p:cNvSpPr/>
          <p:nvPr/>
        </p:nvSpPr>
        <p:spPr>
          <a:xfrm>
            <a:off x="480060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МЕТОДЫ</a:t>
            </a:r>
          </a:p>
        </p:txBody>
      </p:sp>
      <p:sp>
        <p:nvSpPr>
          <p:cNvPr id="5" name="Chevron 4"/>
          <p:cNvSpPr/>
          <p:nvPr/>
        </p:nvSpPr>
        <p:spPr>
          <a:xfrm>
            <a:off x="713232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РЕЗУЛЬТАТЫ</a:t>
            </a:r>
          </a:p>
        </p:txBody>
      </p:sp>
      <p:sp>
        <p:nvSpPr>
          <p:cNvPr id="6" name="Chevron 5"/>
          <p:cNvSpPr/>
          <p:nvPr/>
        </p:nvSpPr>
        <p:spPr>
          <a:xfrm>
            <a:off x="946404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ВЫВОДЫ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783080" cy="91440"/>
          </a:xfrm>
          <a:prstGeom prst="rect">
            <a:avLst/>
          </a:prstGeom>
          <a:solidFill>
            <a:srgbClr val="11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2743200" cy="128016"/>
          </a:xfrm>
          <a:prstGeom prst="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848484"/>
                </a:solidFill>
                <a:latin typeface="Trebuchet M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315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010"/>
                </a:solidFill>
                <a:latin typeface="Trebuchet MS"/>
              </a:rPr>
              <a:t>Исследовательский вопрос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737360"/>
            <a:ext cx="11064240" cy="1554480"/>
          </a:xfrm>
          <a:prstGeom prst="roundRect">
            <a:avLst>
              <a:gd name="adj" fmla="val 45000"/>
            </a:avLst>
          </a:prstGeom>
          <a:solidFill>
            <a:srgbClr val="FFE699"/>
          </a:solidFill>
          <a:ln w="254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111010"/>
                </a:solidFill>
                <a:latin typeface="Trebuchet MS"/>
              </a:rPr>
              <a:t>В каких аспектах совмещение учёбы и работы приносит студентам пользу, а в каких — создаёт трудности?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31920"/>
            <a:ext cx="50292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C55A11"/>
                </a:solidFill>
                <a:latin typeface="Trebuchet MS"/>
              </a:rPr>
              <a:t>44–48%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00600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11010"/>
                </a:solidFill>
                <a:latin typeface="Trebuchet MS"/>
              </a:rPr>
              <a:t>студентов работают во время учёбы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931920"/>
            <a:ext cx="530352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C55A11"/>
                </a:solidFill>
                <a:latin typeface="Trebuchet MS"/>
              </a:rPr>
              <a:t>25–30%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800600"/>
            <a:ext cx="53035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11010"/>
                </a:solidFill>
                <a:latin typeface="Trebuchet MS"/>
              </a:rPr>
              <a:t>задумывавшихся об отчислении называют
причиной совмещение учёбы и работы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137160" y="164592"/>
            <a:ext cx="2514600" cy="384048"/>
          </a:xfrm>
          <a:prstGeom prst="homePlate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ВОПРОС</a:t>
            </a:r>
          </a:p>
        </p:txBody>
      </p:sp>
      <p:sp>
        <p:nvSpPr>
          <p:cNvPr id="3" name="Chevron 2"/>
          <p:cNvSpPr/>
          <p:nvPr/>
        </p:nvSpPr>
        <p:spPr>
          <a:xfrm>
            <a:off x="2468879" y="164592"/>
            <a:ext cx="2514600" cy="384048"/>
          </a:xfrm>
          <a:prstGeom prst="chevron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1">
                <a:solidFill>
                  <a:srgbClr val="111010"/>
                </a:solidFill>
                <a:latin typeface="Courier New"/>
              </a:rPr>
              <a:t>ДАННЫЕ</a:t>
            </a:r>
          </a:p>
        </p:txBody>
      </p:sp>
      <p:sp>
        <p:nvSpPr>
          <p:cNvPr id="4" name="Chevron 3"/>
          <p:cNvSpPr/>
          <p:nvPr/>
        </p:nvSpPr>
        <p:spPr>
          <a:xfrm>
            <a:off x="480060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МЕТОДЫ</a:t>
            </a:r>
          </a:p>
        </p:txBody>
      </p:sp>
      <p:sp>
        <p:nvSpPr>
          <p:cNvPr id="5" name="Chevron 4"/>
          <p:cNvSpPr/>
          <p:nvPr/>
        </p:nvSpPr>
        <p:spPr>
          <a:xfrm>
            <a:off x="713232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РЕЗУЛЬТАТЫ</a:t>
            </a:r>
          </a:p>
        </p:txBody>
      </p:sp>
      <p:sp>
        <p:nvSpPr>
          <p:cNvPr id="6" name="Chevron 5"/>
          <p:cNvSpPr/>
          <p:nvPr/>
        </p:nvSpPr>
        <p:spPr>
          <a:xfrm>
            <a:off x="946404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ВЫВОДЫ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783080" cy="91440"/>
          </a:xfrm>
          <a:prstGeom prst="rect">
            <a:avLst/>
          </a:prstGeom>
          <a:solidFill>
            <a:srgbClr val="11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2743200" cy="128016"/>
          </a:xfrm>
          <a:prstGeom prst="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848484"/>
                </a:solidFill>
                <a:latin typeface="Trebuchet M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315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010"/>
                </a:solidFill>
                <a:latin typeface="Trebuchet MS"/>
              </a:rPr>
              <a:t>Источник данных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56692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11010"/>
                </a:solidFill>
                <a:latin typeface="Trebuchet MS"/>
              </a:rPr>
              <a:t>Лонгитюд ИО НИУ ВШЭ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11010"/>
                </a:solidFill>
                <a:latin typeface="Trebuchet MS"/>
              </a:rPr>
              <a:t>9 селективных вузов · 3 и 4 курс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71800"/>
            <a:ext cx="27432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11010"/>
                </a:solidFill>
                <a:latin typeface="Trebuchet MS"/>
              </a:rPr>
              <a:t>1 236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40480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11010"/>
                </a:solidFill>
                <a:latin typeface="Trebuchet MS"/>
              </a:rPr>
              <a:t>студентов
на 3 курсе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971800"/>
            <a:ext cx="27432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11010"/>
                </a:solidFill>
                <a:latin typeface="Trebuchet MS"/>
              </a:rPr>
              <a:t>914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840480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11010"/>
                </a:solidFill>
                <a:latin typeface="Trebuchet MS"/>
              </a:rPr>
              <a:t>полных анкет
на 4 курсе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17720"/>
            <a:ext cx="54864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11010"/>
                </a:solidFill>
                <a:latin typeface="Trebuchet MS"/>
              </a:rPr>
              <a:t>724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5486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11010"/>
                </a:solidFill>
                <a:latin typeface="Trebuchet MS"/>
              </a:rPr>
              <a:t>студента в обеих волнах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60020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848484"/>
                </a:solidFill>
                <a:latin typeface="Trebuchet MS"/>
              </a:rPr>
              <a:t>Нашёл и очистил 599 «прокликанных» анкет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400800" y="1965960"/>
          <a:ext cx="53949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137160" y="164592"/>
            <a:ext cx="2514600" cy="384048"/>
          </a:xfrm>
          <a:prstGeom prst="homePlate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ВОПРОС</a:t>
            </a:r>
          </a:p>
        </p:txBody>
      </p:sp>
      <p:sp>
        <p:nvSpPr>
          <p:cNvPr id="3" name="Chevron 2"/>
          <p:cNvSpPr/>
          <p:nvPr/>
        </p:nvSpPr>
        <p:spPr>
          <a:xfrm>
            <a:off x="2468879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ДАННЫЕ</a:t>
            </a:r>
          </a:p>
        </p:txBody>
      </p:sp>
      <p:sp>
        <p:nvSpPr>
          <p:cNvPr id="4" name="Chevron 3"/>
          <p:cNvSpPr/>
          <p:nvPr/>
        </p:nvSpPr>
        <p:spPr>
          <a:xfrm>
            <a:off x="4800600" y="164592"/>
            <a:ext cx="2514600" cy="384048"/>
          </a:xfrm>
          <a:prstGeom prst="chevron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1">
                <a:solidFill>
                  <a:srgbClr val="111010"/>
                </a:solidFill>
                <a:latin typeface="Courier New"/>
              </a:rPr>
              <a:t>МЕТОДЫ</a:t>
            </a:r>
          </a:p>
        </p:txBody>
      </p:sp>
      <p:sp>
        <p:nvSpPr>
          <p:cNvPr id="5" name="Chevron 4"/>
          <p:cNvSpPr/>
          <p:nvPr/>
        </p:nvSpPr>
        <p:spPr>
          <a:xfrm>
            <a:off x="713232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РЕЗУЛЬТАТЫ</a:t>
            </a:r>
          </a:p>
        </p:txBody>
      </p:sp>
      <p:sp>
        <p:nvSpPr>
          <p:cNvPr id="6" name="Chevron 5"/>
          <p:cNvSpPr/>
          <p:nvPr/>
        </p:nvSpPr>
        <p:spPr>
          <a:xfrm>
            <a:off x="946404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ВЫВОДЫ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783080" cy="91440"/>
          </a:xfrm>
          <a:prstGeom prst="rect">
            <a:avLst/>
          </a:prstGeom>
          <a:solidFill>
            <a:srgbClr val="11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2743200" cy="128016"/>
          </a:xfrm>
          <a:prstGeom prst="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848484"/>
                </a:solidFill>
                <a:latin typeface="Trebuchet MS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315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010"/>
                </a:solidFill>
                <a:latin typeface="Trebuchet MS"/>
              </a:rPr>
              <a:t>Методы анализа</a:t>
            </a:r>
          </a:p>
        </p:txBody>
      </p:sp>
      <p:sp>
        <p:nvSpPr>
          <p:cNvPr id="11" name="Oval 10"/>
          <p:cNvSpPr/>
          <p:nvPr/>
        </p:nvSpPr>
        <p:spPr>
          <a:xfrm>
            <a:off x="1051560" y="2011680"/>
            <a:ext cx="1005840" cy="1005840"/>
          </a:xfrm>
          <a:prstGeom prst="ellips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011680"/>
            <a:ext cx="100584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111010"/>
                </a:solidFill>
                <a:latin typeface="Trebuchet M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461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111010"/>
                </a:solidFill>
                <a:latin typeface="Trebuchet MS"/>
              </a:rPr>
              <a:t>Предобработка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49039"/>
            <a:ext cx="21945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11010"/>
                </a:solidFill>
                <a:latin typeface="Trebuchet MS"/>
              </a:rPr>
              <a:t>выбросы, коды,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11010"/>
                </a:solidFill>
                <a:latin typeface="Trebuchet MS"/>
              </a:rPr>
              <a:t>очистка анкет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286000" y="2331720"/>
            <a:ext cx="457200" cy="365760"/>
          </a:xfrm>
          <a:prstGeom prst="rightArrow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37560" y="2011680"/>
            <a:ext cx="1005840" cy="1005840"/>
          </a:xfrm>
          <a:prstGeom prst="ellips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2011680"/>
            <a:ext cx="100584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111010"/>
                </a:solidFill>
                <a:latin typeface="Trebuchet M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32461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111010"/>
                </a:solidFill>
                <a:latin typeface="Trebuchet MS"/>
              </a:rPr>
              <a:t>Описание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749039"/>
            <a:ext cx="21945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11010"/>
                </a:solidFill>
                <a:latin typeface="Trebuchet MS"/>
              </a:rPr>
              <a:t>доли по волнам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11010"/>
                </a:solidFill>
                <a:latin typeface="Trebuchet MS"/>
              </a:rPr>
              <a:t>и группам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572000" y="2331720"/>
            <a:ext cx="457200" cy="365760"/>
          </a:xfrm>
          <a:prstGeom prst="rightArrow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623559" y="2011680"/>
            <a:ext cx="1005840" cy="1005840"/>
          </a:xfrm>
          <a:prstGeom prst="ellips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3559" y="2011680"/>
            <a:ext cx="100584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111010"/>
                </a:solidFill>
                <a:latin typeface="Trebuchet M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2461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111010"/>
                </a:solidFill>
                <a:latin typeface="Trebuchet MS"/>
              </a:rPr>
              <a:t>Корреляции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749039"/>
            <a:ext cx="21945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11010"/>
                </a:solidFill>
                <a:latin typeface="Trebuchet MS"/>
              </a:rPr>
              <a:t>Спирмен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858000" y="2331720"/>
            <a:ext cx="457200" cy="365760"/>
          </a:xfrm>
          <a:prstGeom prst="rightArrow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9560" y="2011680"/>
            <a:ext cx="1005840" cy="1005840"/>
          </a:xfrm>
          <a:prstGeom prst="ellips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2011680"/>
            <a:ext cx="100584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111010"/>
                </a:solidFill>
                <a:latin typeface="Trebuchet M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2461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111010"/>
                </a:solidFill>
                <a:latin typeface="Trebuchet MS"/>
              </a:rPr>
              <a:t>Гипотезы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749039"/>
            <a:ext cx="21945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11010"/>
                </a:solidFill>
                <a:latin typeface="Trebuchet MS"/>
              </a:rPr>
              <a:t>Манн–Уитни, χ²,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11010"/>
                </a:solidFill>
                <a:latin typeface="Trebuchet MS"/>
              </a:rPr>
              <a:t>Уилкоксон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144000" y="2331720"/>
            <a:ext cx="457200" cy="365760"/>
          </a:xfrm>
          <a:prstGeom prst="rightArrow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95560" y="2011680"/>
            <a:ext cx="1005840" cy="1005840"/>
          </a:xfrm>
          <a:prstGeom prst="ellips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95560" y="2011680"/>
            <a:ext cx="100584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111010"/>
                </a:solidFill>
                <a:latin typeface="Trebuchet M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32461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111010"/>
                </a:solidFill>
                <a:latin typeface="Trebuchet MS"/>
              </a:rPr>
              <a:t>Регрессия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3749039"/>
            <a:ext cx="21945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11010"/>
                </a:solidFill>
                <a:latin typeface="Trebuchet MS"/>
              </a:rPr>
              <a:t>логистическая,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11010"/>
                </a:solidFill>
                <a:latin typeface="Trebuchet MS"/>
              </a:rPr>
              <a:t>шансы (OR)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848484"/>
                </a:solidFill>
                <a:latin typeface="Trebuchet MS"/>
              </a:rPr>
              <a:t>Данные порядковые и не нормальные → непараметрические методы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137160" y="164592"/>
            <a:ext cx="2514600" cy="384048"/>
          </a:xfrm>
          <a:prstGeom prst="homePlate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ВОПРОС</a:t>
            </a:r>
          </a:p>
        </p:txBody>
      </p:sp>
      <p:sp>
        <p:nvSpPr>
          <p:cNvPr id="3" name="Chevron 2"/>
          <p:cNvSpPr/>
          <p:nvPr/>
        </p:nvSpPr>
        <p:spPr>
          <a:xfrm>
            <a:off x="2468879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ДАННЫЕ</a:t>
            </a:r>
          </a:p>
        </p:txBody>
      </p:sp>
      <p:sp>
        <p:nvSpPr>
          <p:cNvPr id="4" name="Chevron 3"/>
          <p:cNvSpPr/>
          <p:nvPr/>
        </p:nvSpPr>
        <p:spPr>
          <a:xfrm>
            <a:off x="480060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МЕТОДЫ</a:t>
            </a:r>
          </a:p>
        </p:txBody>
      </p:sp>
      <p:sp>
        <p:nvSpPr>
          <p:cNvPr id="5" name="Chevron 4"/>
          <p:cNvSpPr/>
          <p:nvPr/>
        </p:nvSpPr>
        <p:spPr>
          <a:xfrm>
            <a:off x="7132320" y="164592"/>
            <a:ext cx="2514600" cy="384048"/>
          </a:xfrm>
          <a:prstGeom prst="chevron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1">
                <a:solidFill>
                  <a:srgbClr val="111010"/>
                </a:solidFill>
                <a:latin typeface="Courier New"/>
              </a:rPr>
              <a:t>РЕЗУЛЬТАТЫ</a:t>
            </a:r>
          </a:p>
        </p:txBody>
      </p:sp>
      <p:sp>
        <p:nvSpPr>
          <p:cNvPr id="6" name="Chevron 5"/>
          <p:cNvSpPr/>
          <p:nvPr/>
        </p:nvSpPr>
        <p:spPr>
          <a:xfrm>
            <a:off x="946404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ВЫВОДЫ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783080" cy="91440"/>
          </a:xfrm>
          <a:prstGeom prst="rect">
            <a:avLst/>
          </a:prstGeom>
          <a:solidFill>
            <a:srgbClr val="11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2743200" cy="128016"/>
          </a:xfrm>
          <a:prstGeom prst="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848484"/>
                </a:solidFill>
                <a:latin typeface="Trebuchet MS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315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010"/>
                </a:solidFill>
                <a:latin typeface="Trebuchet MS"/>
              </a:rPr>
              <a:t>Работает почти половина студентов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08760"/>
            <a:ext cx="6858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848484"/>
                </a:solidFill>
                <a:latin typeface="Trebuchet MS"/>
              </a:rPr>
              <a:t>Есть ли оплачиваемая работа, % студентов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57200" y="1874519"/>
          <a:ext cx="7132320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138160" y="2011680"/>
            <a:ext cx="36576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C55A11"/>
                </a:solidFill>
                <a:latin typeface="Trebuchet MS"/>
              </a:rPr>
              <a:t>×2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880360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11010"/>
                </a:solidFill>
                <a:latin typeface="Trebuchet MS"/>
              </a:rPr>
              <a:t>полный день к 4 курсу
(4% → 9%)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023360"/>
            <a:ext cx="36576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111010"/>
                </a:solidFill>
                <a:latin typeface="Trebuchet MS"/>
              </a:rPr>
              <a:t>~70%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4892040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11010"/>
                </a:solidFill>
                <a:latin typeface="Trebuchet MS"/>
              </a:rPr>
              <a:t>работают ради денег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137160" y="164592"/>
            <a:ext cx="2514600" cy="384048"/>
          </a:xfrm>
          <a:prstGeom prst="homePlate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ВОПРОС</a:t>
            </a:r>
          </a:p>
        </p:txBody>
      </p:sp>
      <p:sp>
        <p:nvSpPr>
          <p:cNvPr id="3" name="Chevron 2"/>
          <p:cNvSpPr/>
          <p:nvPr/>
        </p:nvSpPr>
        <p:spPr>
          <a:xfrm>
            <a:off x="2468879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ДАННЫЕ</a:t>
            </a:r>
          </a:p>
        </p:txBody>
      </p:sp>
      <p:sp>
        <p:nvSpPr>
          <p:cNvPr id="4" name="Chevron 3"/>
          <p:cNvSpPr/>
          <p:nvPr/>
        </p:nvSpPr>
        <p:spPr>
          <a:xfrm>
            <a:off x="480060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МЕТОДЫ</a:t>
            </a:r>
          </a:p>
        </p:txBody>
      </p:sp>
      <p:sp>
        <p:nvSpPr>
          <p:cNvPr id="5" name="Chevron 4"/>
          <p:cNvSpPr/>
          <p:nvPr/>
        </p:nvSpPr>
        <p:spPr>
          <a:xfrm>
            <a:off x="7132320" y="164592"/>
            <a:ext cx="2514600" cy="384048"/>
          </a:xfrm>
          <a:prstGeom prst="chevron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1">
                <a:solidFill>
                  <a:srgbClr val="111010"/>
                </a:solidFill>
                <a:latin typeface="Courier New"/>
              </a:rPr>
              <a:t>РЕЗУЛЬТАТЫ</a:t>
            </a:r>
          </a:p>
        </p:txBody>
      </p:sp>
      <p:sp>
        <p:nvSpPr>
          <p:cNvPr id="6" name="Chevron 5"/>
          <p:cNvSpPr/>
          <p:nvPr/>
        </p:nvSpPr>
        <p:spPr>
          <a:xfrm>
            <a:off x="946404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ВЫВОДЫ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783080" cy="91440"/>
          </a:xfrm>
          <a:prstGeom prst="rect">
            <a:avLst/>
          </a:prstGeom>
          <a:solidFill>
            <a:srgbClr val="11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2743200" cy="128016"/>
          </a:xfrm>
          <a:prstGeom prst="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848484"/>
                </a:solidFill>
                <a:latin typeface="Trebuchet MS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315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010"/>
                </a:solidFill>
                <a:latin typeface="Trebuchet MS"/>
              </a:rPr>
              <a:t>Сама работа учёбе не вредит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0876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848484"/>
                </a:solidFill>
                <a:latin typeface="Trebuchet MS"/>
              </a:rPr>
              <a:t>Хорошие оценки («4 и 5» или «только 5»), %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57200" y="1874519"/>
          <a:ext cx="5852160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83680" y="15087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848484"/>
                </a:solidFill>
                <a:latin typeface="Trebuchet MS"/>
              </a:rPr>
              <a:t>Изменение хороших оценок с 3 на 4 курс, п.п.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492240" y="1874519"/>
          <a:ext cx="5394960" cy="43891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137160" y="164592"/>
            <a:ext cx="2514600" cy="384048"/>
          </a:xfrm>
          <a:prstGeom prst="homePlate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ВОПРОС</a:t>
            </a:r>
          </a:p>
        </p:txBody>
      </p:sp>
      <p:sp>
        <p:nvSpPr>
          <p:cNvPr id="3" name="Chevron 2"/>
          <p:cNvSpPr/>
          <p:nvPr/>
        </p:nvSpPr>
        <p:spPr>
          <a:xfrm>
            <a:off x="2468879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ДАННЫЕ</a:t>
            </a:r>
          </a:p>
        </p:txBody>
      </p:sp>
      <p:sp>
        <p:nvSpPr>
          <p:cNvPr id="4" name="Chevron 3"/>
          <p:cNvSpPr/>
          <p:nvPr/>
        </p:nvSpPr>
        <p:spPr>
          <a:xfrm>
            <a:off x="480060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МЕТОДЫ</a:t>
            </a:r>
          </a:p>
        </p:txBody>
      </p:sp>
      <p:sp>
        <p:nvSpPr>
          <p:cNvPr id="5" name="Chevron 4"/>
          <p:cNvSpPr/>
          <p:nvPr/>
        </p:nvSpPr>
        <p:spPr>
          <a:xfrm>
            <a:off x="7132320" y="164592"/>
            <a:ext cx="2514600" cy="384048"/>
          </a:xfrm>
          <a:prstGeom prst="chevron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1">
                <a:solidFill>
                  <a:srgbClr val="111010"/>
                </a:solidFill>
                <a:latin typeface="Courier New"/>
              </a:rPr>
              <a:t>РЕЗУЛЬТАТЫ</a:t>
            </a:r>
          </a:p>
        </p:txBody>
      </p:sp>
      <p:sp>
        <p:nvSpPr>
          <p:cNvPr id="6" name="Chevron 5"/>
          <p:cNvSpPr/>
          <p:nvPr/>
        </p:nvSpPr>
        <p:spPr>
          <a:xfrm>
            <a:off x="946404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ВЫВОДЫ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783080" cy="91440"/>
          </a:xfrm>
          <a:prstGeom prst="rect">
            <a:avLst/>
          </a:prstGeom>
          <a:solidFill>
            <a:srgbClr val="11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2743200" cy="128016"/>
          </a:xfrm>
          <a:prstGeom prst="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848484"/>
                </a:solidFill>
                <a:latin typeface="Trebuchet MS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315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010"/>
                </a:solidFill>
                <a:latin typeface="Trebuchet MS"/>
              </a:rPr>
              <a:t>Перегрузка: меньше сна и мысли об отчислении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0876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848484"/>
                </a:solidFill>
                <a:latin typeface="Trebuchet MS"/>
              </a:rPr>
              <a:t>Спят меньше 7 часов в будни, % (по часам работы в неделю)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57200" y="1874519"/>
          <a:ext cx="5852160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83680" y="15087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848484"/>
                </a:solidFill>
                <a:latin typeface="Trebuchet MS"/>
              </a:rPr>
              <a:t>На сколько выше шансы думать об отчислении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492240" y="1874519"/>
          <a:ext cx="5394960" cy="31089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583680" y="5029200"/>
            <a:ext cx="530352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C55A11"/>
                </a:solidFill>
                <a:latin typeface="Trebuchet MS"/>
              </a:rPr>
              <a:t>−28 мин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5897880"/>
            <a:ext cx="53035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11010"/>
                </a:solidFill>
                <a:latin typeface="Trebuchet MS"/>
              </a:rPr>
              <a:t>сна в будни при 30+ часах работы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137160" y="164592"/>
            <a:ext cx="2514600" cy="384048"/>
          </a:xfrm>
          <a:prstGeom prst="homePlate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ВОПРОС</a:t>
            </a:r>
          </a:p>
        </p:txBody>
      </p:sp>
      <p:sp>
        <p:nvSpPr>
          <p:cNvPr id="3" name="Chevron 2"/>
          <p:cNvSpPr/>
          <p:nvPr/>
        </p:nvSpPr>
        <p:spPr>
          <a:xfrm>
            <a:off x="2468879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ДАННЫЕ</a:t>
            </a:r>
          </a:p>
        </p:txBody>
      </p:sp>
      <p:sp>
        <p:nvSpPr>
          <p:cNvPr id="4" name="Chevron 3"/>
          <p:cNvSpPr/>
          <p:nvPr/>
        </p:nvSpPr>
        <p:spPr>
          <a:xfrm>
            <a:off x="480060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МЕТОДЫ</a:t>
            </a:r>
          </a:p>
        </p:txBody>
      </p:sp>
      <p:sp>
        <p:nvSpPr>
          <p:cNvPr id="5" name="Chevron 4"/>
          <p:cNvSpPr/>
          <p:nvPr/>
        </p:nvSpPr>
        <p:spPr>
          <a:xfrm>
            <a:off x="7132320" y="164592"/>
            <a:ext cx="2514600" cy="384048"/>
          </a:xfrm>
          <a:prstGeom prst="chevron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1">
                <a:solidFill>
                  <a:srgbClr val="111010"/>
                </a:solidFill>
                <a:latin typeface="Courier New"/>
              </a:rPr>
              <a:t>РЕЗУЛЬТАТЫ</a:t>
            </a:r>
          </a:p>
        </p:txBody>
      </p:sp>
      <p:sp>
        <p:nvSpPr>
          <p:cNvPr id="6" name="Chevron 5"/>
          <p:cNvSpPr/>
          <p:nvPr/>
        </p:nvSpPr>
        <p:spPr>
          <a:xfrm>
            <a:off x="946404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ВЫВОДЫ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783080" cy="91440"/>
          </a:xfrm>
          <a:prstGeom prst="rect">
            <a:avLst/>
          </a:prstGeom>
          <a:solidFill>
            <a:srgbClr val="11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2743200" cy="128016"/>
          </a:xfrm>
          <a:prstGeom prst="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848484"/>
                </a:solidFill>
                <a:latin typeface="Trebuchet MS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315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010"/>
                </a:solidFill>
                <a:latin typeface="Trebuchet MS"/>
              </a:rPr>
              <a:t>Работа по специальности помогает учиться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08760"/>
            <a:ext cx="6949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848484"/>
                </a:solidFill>
                <a:latin typeface="Trebuchet MS"/>
              </a:rPr>
              <a:t>Работающие студенты 4 курса, %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57200" y="1874519"/>
          <a:ext cx="7132320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138160" y="2011680"/>
            <a:ext cx="36576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C55A11"/>
                </a:solidFill>
                <a:latin typeface="Trebuchet MS"/>
              </a:rPr>
              <a:t>×6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880360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11010"/>
                </a:solidFill>
                <a:latin typeface="Trebuchet MS"/>
              </a:rPr>
              <a:t>шансы, что работа
помогает учиться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023360"/>
            <a:ext cx="36576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111010"/>
                </a:solidFill>
                <a:latin typeface="Trebuchet MS"/>
              </a:rPr>
              <a:t>×1.6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4892040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11010"/>
                </a:solidFill>
                <a:latin typeface="Trebuchet MS"/>
              </a:rPr>
              <a:t>шансы на хорошие
оценки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137160" y="164592"/>
            <a:ext cx="2514600" cy="384048"/>
          </a:xfrm>
          <a:prstGeom prst="homePlate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ВОПРОС</a:t>
            </a:r>
          </a:p>
        </p:txBody>
      </p:sp>
      <p:sp>
        <p:nvSpPr>
          <p:cNvPr id="3" name="Chevron 2"/>
          <p:cNvSpPr/>
          <p:nvPr/>
        </p:nvSpPr>
        <p:spPr>
          <a:xfrm>
            <a:off x="2468879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ДАННЫЕ</a:t>
            </a:r>
          </a:p>
        </p:txBody>
      </p:sp>
      <p:sp>
        <p:nvSpPr>
          <p:cNvPr id="4" name="Chevron 3"/>
          <p:cNvSpPr/>
          <p:nvPr/>
        </p:nvSpPr>
        <p:spPr>
          <a:xfrm>
            <a:off x="480060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МЕТОДЫ</a:t>
            </a:r>
          </a:p>
        </p:txBody>
      </p:sp>
      <p:sp>
        <p:nvSpPr>
          <p:cNvPr id="5" name="Chevron 4"/>
          <p:cNvSpPr/>
          <p:nvPr/>
        </p:nvSpPr>
        <p:spPr>
          <a:xfrm>
            <a:off x="713232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РЕЗУЛЬТАТЫ</a:t>
            </a:r>
          </a:p>
        </p:txBody>
      </p:sp>
      <p:sp>
        <p:nvSpPr>
          <p:cNvPr id="6" name="Chevron 5"/>
          <p:cNvSpPr/>
          <p:nvPr/>
        </p:nvSpPr>
        <p:spPr>
          <a:xfrm>
            <a:off x="9464040" y="164592"/>
            <a:ext cx="2514600" cy="384048"/>
          </a:xfrm>
          <a:prstGeom prst="chevron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1">
                <a:solidFill>
                  <a:srgbClr val="111010"/>
                </a:solidFill>
                <a:latin typeface="Courier New"/>
              </a:rPr>
              <a:t>ВЫВОДЫ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783080" cy="91440"/>
          </a:xfrm>
          <a:prstGeom prst="rect">
            <a:avLst/>
          </a:prstGeom>
          <a:solidFill>
            <a:srgbClr val="11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2743200" cy="128016"/>
          </a:xfrm>
          <a:prstGeom prst="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848484"/>
                </a:solidFill>
                <a:latin typeface="Trebuchet MS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315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010"/>
                </a:solidFill>
                <a:latin typeface="Trebuchet MS"/>
              </a:rPr>
              <a:t>Выводы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1828800"/>
            <a:ext cx="548640" cy="548640"/>
          </a:xfrm>
          <a:prstGeom prst="ellips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11010"/>
                </a:solidFill>
                <a:latin typeface="Trebuchet M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737360"/>
            <a:ext cx="10332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11010"/>
                </a:solidFill>
                <a:latin typeface="Trebuchet MS"/>
              </a:rPr>
              <a:t>Работа не вредит — </a:t>
            </a:r>
            <a:r>
              <a:rPr sz="2000" b="0" i="0">
                <a:solidFill>
                  <a:srgbClr val="111010"/>
                </a:solidFill>
                <a:latin typeface="Trebuchet MS"/>
              </a:rPr>
              <a:t>оценки работающих не хуже, начало работы их не снижает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834640"/>
            <a:ext cx="548640" cy="548640"/>
          </a:xfrm>
          <a:prstGeom prst="ellips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83464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11010"/>
                </a:solidFill>
                <a:latin typeface="Trebuchet M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743200"/>
            <a:ext cx="10332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11010"/>
                </a:solidFill>
                <a:latin typeface="Trebuchet MS"/>
              </a:rPr>
              <a:t>Вредит перегрузка — </a:t>
            </a:r>
            <a:r>
              <a:rPr sz="2000" b="0" i="0">
                <a:solidFill>
                  <a:srgbClr val="111010"/>
                </a:solidFill>
                <a:latin typeface="Trebuchet MS"/>
              </a:rPr>
              <a:t>30+ часов и полный день: меньше сна, мысли об отчислении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3840479"/>
            <a:ext cx="548640" cy="548640"/>
          </a:xfrm>
          <a:prstGeom prst="ellips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840479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11010"/>
                </a:solidFill>
                <a:latin typeface="Trebuchet M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749039"/>
            <a:ext cx="10332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11010"/>
                </a:solidFill>
                <a:latin typeface="Trebuchet MS"/>
              </a:rPr>
              <a:t>Польза — от профильной работы — </a:t>
            </a:r>
            <a:r>
              <a:rPr sz="2000" b="0" i="0">
                <a:solidFill>
                  <a:srgbClr val="111010"/>
                </a:solidFill>
                <a:latin typeface="Trebuchet MS"/>
              </a:rPr>
              <a:t>по специальности работа помогает учиться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46320"/>
            <a:ext cx="11064240" cy="1280160"/>
          </a:xfrm>
          <a:prstGeom prst="roundRect">
            <a:avLst>
              <a:gd name="adj" fmla="val 30000"/>
            </a:avLst>
          </a:prstGeom>
          <a:solidFill>
            <a:srgbClr val="FFE699"/>
          </a:solidFill>
          <a:ln w="1905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11010"/>
                </a:solidFill>
                <a:latin typeface="Trebuchet MS"/>
              </a:rPr>
              <a:t>Вузам: </a:t>
            </a:r>
            <a:r>
              <a:rPr sz="1900" b="0" i="0">
                <a:solidFill>
                  <a:srgbClr val="111010"/>
                </a:solidFill>
                <a:latin typeface="Trebuchet MS"/>
              </a:rPr>
              <a:t>помогать находить работу по специальности и давать гибкие планы тем, кто работает полный день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137160" y="164592"/>
            <a:ext cx="2514600" cy="384048"/>
          </a:xfrm>
          <a:prstGeom prst="homePlate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ВОПРОС</a:t>
            </a:r>
          </a:p>
        </p:txBody>
      </p:sp>
      <p:sp>
        <p:nvSpPr>
          <p:cNvPr id="3" name="Chevron 2"/>
          <p:cNvSpPr/>
          <p:nvPr/>
        </p:nvSpPr>
        <p:spPr>
          <a:xfrm>
            <a:off x="2468879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ДАННЫЕ</a:t>
            </a:r>
          </a:p>
        </p:txBody>
      </p:sp>
      <p:sp>
        <p:nvSpPr>
          <p:cNvPr id="4" name="Chevron 3"/>
          <p:cNvSpPr/>
          <p:nvPr/>
        </p:nvSpPr>
        <p:spPr>
          <a:xfrm>
            <a:off x="480060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МЕТОДЫ</a:t>
            </a:r>
          </a:p>
        </p:txBody>
      </p:sp>
      <p:sp>
        <p:nvSpPr>
          <p:cNvPr id="5" name="Chevron 4"/>
          <p:cNvSpPr/>
          <p:nvPr/>
        </p:nvSpPr>
        <p:spPr>
          <a:xfrm>
            <a:off x="713232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0">
                <a:solidFill>
                  <a:srgbClr val="111010"/>
                </a:solidFill>
                <a:latin typeface="Courier New"/>
              </a:rPr>
              <a:t>РЕЗУЛЬТАТЫ</a:t>
            </a:r>
          </a:p>
        </p:txBody>
      </p:sp>
      <p:sp>
        <p:nvSpPr>
          <p:cNvPr id="6" name="Chevron 5"/>
          <p:cNvSpPr/>
          <p:nvPr/>
        </p:nvSpPr>
        <p:spPr>
          <a:xfrm>
            <a:off x="9464040" y="164592"/>
            <a:ext cx="2514600" cy="384048"/>
          </a:xfrm>
          <a:prstGeom prst="chevron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1">
                <a:solidFill>
                  <a:srgbClr val="111010"/>
                </a:solidFill>
                <a:latin typeface="Courier New"/>
              </a:rPr>
              <a:t>ВЫВОДЫ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783080" cy="91440"/>
          </a:xfrm>
          <a:prstGeom prst="rect">
            <a:avLst/>
          </a:prstGeom>
          <a:solidFill>
            <a:srgbClr val="11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2743200" cy="128016"/>
          </a:xfrm>
          <a:prstGeom prst="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848484"/>
                </a:solidFill>
                <a:latin typeface="Trebuchet MS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315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010"/>
                </a:solidFill>
                <a:latin typeface="Trebuchet MS"/>
              </a:rPr>
              <a:t>Итоги и ограничения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645920"/>
          <a:ext cx="722376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39496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010"/>
                          </a:solidFill>
                          <a:latin typeface="Trebuchet MS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010"/>
                          </a:solidFill>
                          <a:latin typeface="Trebuchet MS"/>
                        </a:rPr>
                        <a:t>Гипотеза</a:t>
                      </a:r>
                    </a:p>
                  </a:txBody>
                  <a:tcPr marL="73152" marR="73152" anchor="ctr"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010"/>
                          </a:solidFill>
                          <a:latin typeface="Trebuchet MS"/>
                        </a:rPr>
                        <a:t>Итог</a:t>
                      </a:r>
                    </a:p>
                  </a:txBody>
                  <a:tcPr marL="73152" marR="73152" anchor="ctr">
                    <a:solidFill>
                      <a:srgbClr val="FFD96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010"/>
                          </a:solidFill>
                          <a:latin typeface="Trebuchet MS"/>
                        </a:rPr>
                        <a:t>H1</a:t>
                      </a:r>
                    </a:p>
                  </a:txBody>
                  <a:tcPr marL="73152" marR="73152" anchor="ctr">
                    <a:solidFill>
                      <a:srgbClr val="FFF4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010"/>
                          </a:solidFill>
                          <a:latin typeface="Trebuchet MS"/>
                        </a:rPr>
                        <a:t>Оценки работающих и неработающих различаются</a:t>
                      </a:r>
                    </a:p>
                  </a:txBody>
                  <a:tcPr marL="73152" marR="73152" anchor="ctr">
                    <a:solidFill>
                      <a:srgbClr val="FFF4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C0392B"/>
                          </a:solidFill>
                          <a:latin typeface="Trebuchet MS"/>
                        </a:rPr>
                        <a:t>✘</a:t>
                      </a:r>
                    </a:p>
                  </a:txBody>
                  <a:tcPr marL="73152" marR="73152" anchor="ctr">
                    <a:solidFill>
                      <a:srgbClr val="FFF4D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010"/>
                          </a:solidFill>
                          <a:latin typeface="Trebuchet MS"/>
                        </a:rPr>
                        <a:t>H2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010"/>
                          </a:solidFill>
                          <a:latin typeface="Trebuchet MS"/>
                        </a:rPr>
                        <a:t>Работающие чаще думают об отчислении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E7D32"/>
                          </a:solidFill>
                          <a:latin typeface="Trebuchet MS"/>
                        </a:rPr>
                        <a:t>✔ 3 курс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010"/>
                          </a:solidFill>
                          <a:latin typeface="Trebuchet MS"/>
                        </a:rPr>
                        <a:t>H3</a:t>
                      </a:r>
                    </a:p>
                  </a:txBody>
                  <a:tcPr marL="73152" marR="73152" anchor="ctr">
                    <a:solidFill>
                      <a:srgbClr val="FFF4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010"/>
                          </a:solidFill>
                          <a:latin typeface="Trebuchet MS"/>
                        </a:rPr>
                        <a:t>Работа сокращает сон</a:t>
                      </a:r>
                    </a:p>
                  </a:txBody>
                  <a:tcPr marL="73152" marR="73152" anchor="ctr">
                    <a:solidFill>
                      <a:srgbClr val="FFF4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E7D32"/>
                          </a:solidFill>
                          <a:latin typeface="Trebuchet MS"/>
                        </a:rPr>
                        <a:t>✔ 30+ ч</a:t>
                      </a:r>
                    </a:p>
                  </a:txBody>
                  <a:tcPr marL="73152" marR="73152" anchor="ctr">
                    <a:solidFill>
                      <a:srgbClr val="FFF4D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010"/>
                          </a:solidFill>
                          <a:latin typeface="Trebuchet MS"/>
                        </a:rPr>
                        <a:t>H4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010"/>
                          </a:solidFill>
                          <a:latin typeface="Trebuchet MS"/>
                        </a:rPr>
                        <a:t>По специальности — лучше учёба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E7D32"/>
                          </a:solidFill>
                          <a:latin typeface="Trebuchet MS"/>
                        </a:rPr>
                        <a:t>✔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010"/>
                          </a:solidFill>
                          <a:latin typeface="Trebuchet MS"/>
                        </a:rPr>
                        <a:t>H5</a:t>
                      </a:r>
                    </a:p>
                  </a:txBody>
                  <a:tcPr marL="73152" marR="73152" anchor="ctr">
                    <a:solidFill>
                      <a:srgbClr val="FFF4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010"/>
                          </a:solidFill>
                          <a:latin typeface="Trebuchet MS"/>
                        </a:rPr>
                        <a:t>Ради денег — больше трудностей</a:t>
                      </a:r>
                    </a:p>
                  </a:txBody>
                  <a:tcPr marL="73152" marR="73152" anchor="ctr">
                    <a:solidFill>
                      <a:srgbClr val="FFF4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E7D32"/>
                          </a:solidFill>
                          <a:latin typeface="Trebuchet MS"/>
                        </a:rPr>
                        <a:t>✔</a:t>
                      </a:r>
                    </a:p>
                  </a:txBody>
                  <a:tcPr marL="73152" marR="73152" anchor="ctr">
                    <a:solidFill>
                      <a:srgbClr val="FFF4D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010"/>
                          </a:solidFill>
                          <a:latin typeface="Trebuchet MS"/>
                        </a:rPr>
                        <a:t>H6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010"/>
                          </a:solidFill>
                          <a:latin typeface="Trebuchet MS"/>
                        </a:rPr>
                        <a:t>Начало работы ухудшает оценки и сон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C0392B"/>
                          </a:solidFill>
                          <a:latin typeface="Trebuchet MS"/>
                        </a:rPr>
                        <a:t>✘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010"/>
                          </a:solidFill>
                          <a:latin typeface="Trebuchet MS"/>
                        </a:rPr>
                        <a:t>H7</a:t>
                      </a:r>
                    </a:p>
                  </a:txBody>
                  <a:tcPr marL="73152" marR="73152" anchor="ctr">
                    <a:solidFill>
                      <a:srgbClr val="FFF4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010"/>
                          </a:solidFill>
                          <a:latin typeface="Trebuchet MS"/>
                        </a:rPr>
                        <a:t>Полный день → работа — причина мыслей об отчислении</a:t>
                      </a:r>
                    </a:p>
                  </a:txBody>
                  <a:tcPr marL="73152" marR="73152" anchor="ctr">
                    <a:solidFill>
                      <a:srgbClr val="FFF4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E7D32"/>
                          </a:solidFill>
                          <a:latin typeface="Trebuchet MS"/>
                        </a:rPr>
                        <a:t>✔</a:t>
                      </a:r>
                    </a:p>
                  </a:txBody>
                  <a:tcPr marL="73152" marR="73152" anchor="ctr">
                    <a:solidFill>
                      <a:srgbClr val="FFF4D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38160" y="16459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11010"/>
                </a:solidFill>
                <a:latin typeface="Trebuchet MS"/>
              </a:rPr>
              <a:t>Ограничения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194560"/>
            <a:ext cx="365760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111010"/>
                </a:solidFill>
                <a:latin typeface="Trebuchet MS"/>
              </a:rPr>
              <a:t>• связь ≠ причина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111010"/>
                </a:solidFill>
                <a:latin typeface="Trebuchet MS"/>
              </a:rPr>
              <a:t>• только селективные вузы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111010"/>
                </a:solidFill>
                <a:latin typeface="Trebuchet MS"/>
              </a:rPr>
              <a:t>• отчислившиеся выпадают из данных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