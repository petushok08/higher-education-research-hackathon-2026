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Брошены до вопросов о работе (599)</c:v>
                </c:pt>
              </c:strCache>
            </c:strRef>
          </c:tx>
          <c:spPr>
            <a:solidFill>
              <a:srgbClr val="C55A11"/>
            </a:solidFill>
            <a:ln>
              <a:solidFill>
                <a:srgbClr val="C55A11"/>
              </a:solidFill>
            </a:ln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ru-RU" sz="1100" b="0" i="0" u="none" strike="noStrike" kern="1200" baseline="0">
                    <a:solidFill>
                      <a:schemeClr val="tx1"/>
                    </a:solidFill>
                    <a:latin typeface="Tahoma" panose="020B060403050404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 c:formatCode="&quot;О&quot;&quot;с&quot;&quot;н&quot;&quot;о&quot;&quot;в&quot;&quot;н&quot;&quot;о&quot;&quot;й&quot;">
                  <c:v>Поступил бы в другой
вуз на другую спец.</c:v>
                </c:pt>
                <c:pt idx="1" c:formatCode="&quot;О&quot;&quot;с&quot;&quot;н&quot;&quot;о&quot;&quot;в&quot;&quot;н&quot;&quot;о&quot;&quot;й&quot;">
                  <c:v>Только отличные
оценки</c:v>
                </c:pt>
                <c:pt idx="2" c:formatCode="&quot;О&quot;&quot;с&quot;&quot;н&quot;&quot;о&quot;&quot;в&quot;&quot;н&quot;&quot;о&quot;&quot;й&quot;">
                  <c:v>Затрудняюсь оценить
удовлетворённость</c:v>
                </c:pt>
              </c:strCache>
            </c:strRef>
          </c:cat>
          <c:val>
            <c:numRef>
              <c:f>Sheet1!$B$2:$B$4</c:f>
              <c:numCache>
                <c:formatCode>"О""с""н""о""в""н""о""й"</c:formatCode>
                <c:ptCount val="3"/>
                <c:pt idx="0">
                  <c:v>96.8</c:v>
                </c:pt>
                <c:pt idx="1">
                  <c:v>93</c:v>
                </c:pt>
                <c:pt idx="2">
                  <c:v>55.5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Завершённые анкеты (914)</c:v>
                </c:pt>
              </c:strCache>
            </c:strRef>
          </c:tx>
          <c:spPr>
            <a:solidFill>
              <a:srgbClr val="FFD966"/>
            </a:solidFill>
            <a:ln>
              <a:solidFill>
                <a:srgbClr val="FFD966"/>
              </a:solidFill>
            </a:ln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ru-RU" sz="1100" b="0" i="0" u="none" strike="noStrike" kern="1200" baseline="0">
                    <a:solidFill>
                      <a:schemeClr val="tx1"/>
                    </a:solidFill>
                    <a:latin typeface="Tahoma" panose="020B060403050404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 c:formatCode="&quot;О&quot;&quot;с&quot;&quot;н&quot;&quot;о&quot;&quot;в&quot;&quot;н&quot;&quot;о&quot;&quot;й&quot;">
                  <c:v>Поступил бы в другой
вуз на другую спец.</c:v>
                </c:pt>
                <c:pt idx="1" c:formatCode="&quot;О&quot;&quot;с&quot;&quot;н&quot;&quot;о&quot;&quot;в&quot;&quot;н&quot;&quot;о&quot;&quot;й&quot;">
                  <c:v>Только отличные
оценки</c:v>
                </c:pt>
                <c:pt idx="2" c:formatCode="&quot;О&quot;&quot;с&quot;&quot;н&quot;&quot;о&quot;&quot;в&quot;&quot;н&quot;&quot;о&quot;&quot;й&quot;">
                  <c:v>Затрудняюсь оценить
удовлетворённость</c:v>
                </c:pt>
              </c:strCache>
            </c:strRef>
          </c:cat>
          <c:val>
            <c:numRef>
              <c:f>Sheet1!$C$2:$C$4</c:f>
              <c:numCache>
                <c:formatCode>"О""с""н""о""в""н""о""й"</c:formatCode>
                <c:ptCount val="3"/>
                <c:pt idx="0">
                  <c:v>19.7</c:v>
                </c:pt>
                <c:pt idx="1">
                  <c:v>22</c:v>
                </c:pt>
                <c:pt idx="2">
                  <c:v>9.1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 cap="flat" cmpd="sng" algn="ctr">
            <a:solidFill>
              <a:srgbClr val="D8D8D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ru-RU" sz="1100" b="0" i="0" u="none" strike="noStrike" kern="1200" baseline="0">
                <a:solidFill>
                  <a:schemeClr val="tx1"/>
                </a:solidFill>
                <a:latin typeface="Tahoma" panose="020B0604030504040204"/>
                <a:ea typeface="+mn-ea"/>
                <a:cs typeface="+mn-c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0"/>
          <c:min val="0"/>
        </c:scaling>
        <c:delete val="0"/>
        <c:axPos val="l"/>
        <c:numFmt formatCode="0" sourceLinked="0"/>
        <c:majorTickMark val="none"/>
        <c:minorTickMark val="none"/>
        <c:tickLblPos val="none"/>
        <c:spPr>
          <a:ln w="9525" cap="flat" cmpd="sng" algn="ctr">
            <a:noFill/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ru-RU" sz="1100" b="0" i="0" u="none" strike="noStrike" kern="1200" baseline="0">
                <a:solidFill>
                  <a:schemeClr val="tx1"/>
                </a:solidFill>
                <a:latin typeface="Tahoma" panose="020B0604030504040204"/>
                <a:ea typeface="+mn-ea"/>
                <a:cs typeface="+mn-cs"/>
              </a:defRPr>
            </a:pPr>
          </a:p>
        </c:txPr>
        <c:crossAx val="-2068027336"/>
        <c:crosses val="autoZero"/>
        <c:crossBetween val="between"/>
      </c:valAx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ru-RU" sz="1100" b="0" i="0" u="none" strike="noStrike" kern="1200" baseline="0">
              <a:solidFill>
                <a:schemeClr val="tx1"/>
              </a:solidFill>
              <a:latin typeface="Tahoma" panose="020B0604030504040204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13e5dfce-82e9-4ccf-8409-79652b702116}"/>
      </c:ext>
    </c:extLst>
  </c:chart>
  <c:txPr>
    <a:bodyPr/>
    <a:lstStyle/>
    <a:p>
      <a:pPr>
        <a:defRPr lang="ru-RU" sz="1100">
          <a:latin typeface="Tahoma" panose="020B0604030504040204"/>
        </a:defRPr>
      </a:pPr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Здравствуйте! Мой проект — про студентов, которые совмещают учёбу и работу. Я выяснял по данным лонгитюда ВШЭ, когда работа помогает, а когда мешает учёбе и здоровью.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Половина студентов работает. Вопрос не в том, хорошо это или плохо, а в том, при каких условиях работа помогает, а при каких мешает.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Лонгитюд ВШЭ: одни и те же студенты опрошены на 3 и на 4 курсе. Это позволяет сравнить студента с самим собой.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Главное: я почти ничего не удалял. Удалены только пустые строки, а ошибочные значения заменены на пропуски — студенты остались в анализе.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Без этой проверки вывод был бы такой: к 4 курсу половина студентов разочаровалась в вузе, а отличников стало вдвое больше. Это артефакт данных, а не реальность.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jpe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65760"/>
            <a:ext cx="1005840" cy="1005840"/>
          </a:xfrm>
          <a:prstGeom prst="rect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502920"/>
            <a:ext cx="100584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11010"/>
                </a:solidFill>
                <a:latin typeface="Cascadia Code SemiBold" panose="020B0609020000020004"/>
              </a:rPr>
              <a:t>ИВО</a:t>
            </a:r>
            <a:endParaRPr sz="1600" b="1" i="0">
              <a:solidFill>
                <a:srgbClr val="111010"/>
              </a:solidFill>
              <a:latin typeface="Cascadia Code SemiBold" panose="020B0609020000020004"/>
            </a:endParaRP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11010"/>
                </a:solidFill>
                <a:latin typeface="Cascadia Code SemiBold" panose="020B0609020000020004"/>
              </a:rPr>
              <a:t>2026</a:t>
            </a:r>
            <a:endParaRPr sz="1600" b="1" i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pic>
        <p:nvPicPr>
          <p:cNvPr id="4" name="Picture 3" descr="stripe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0" y="-822960"/>
            <a:ext cx="2926080" cy="2926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828800"/>
            <a:ext cx="7863840" cy="21945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 i="0">
                <a:solidFill>
                  <a:srgbClr val="111010"/>
                </a:solidFill>
                <a:latin typeface="Cascadia Code SemiBold" panose="020B0609020000020004"/>
              </a:rPr>
              <a:t>Учёба + работа:</a:t>
            </a:r>
            <a:endParaRPr sz="4600" b="1" i="0">
              <a:solidFill>
                <a:srgbClr val="111010"/>
              </a:solidFill>
              <a:latin typeface="Cascadia Code SemiBold" panose="020B0609020000020004"/>
            </a:endParaRPr>
          </a:p>
          <a:p>
            <a:pPr algn="l">
              <a:spcAft>
                <a:spcPts val="600"/>
              </a:spcAft>
            </a:pPr>
            <a:r>
              <a:rPr sz="4600" b="1" i="0">
                <a:solidFill>
                  <a:srgbClr val="111010"/>
                </a:solidFill>
                <a:latin typeface="Cascadia Code SemiBold" panose="020B0609020000020004"/>
              </a:rPr>
              <a:t>польза или помеха?</a:t>
            </a:r>
            <a:endParaRPr sz="4600" b="1" i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3977639"/>
            <a:ext cx="7498079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11010"/>
                </a:solidFill>
                <a:latin typeface="Tahoma" panose="020B0604030504040204"/>
              </a:rPr>
              <a:t>Совмещение учёбы и работы: что говорят данные лонгитюда студентов 9 селективных вузов</a:t>
            </a:r>
            <a:endParaRPr sz="1800" b="0" i="0">
              <a:solidFill>
                <a:srgbClr val="111010"/>
              </a:solidFill>
              <a:latin typeface="Tahoma" panose="020B060403050404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4360" y="4937760"/>
            <a:ext cx="5486400" cy="36195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ru-RU" sz="2000" b="1" i="0">
                <a:solidFill>
                  <a:srgbClr val="111010"/>
                </a:solidFill>
                <a:latin typeface="Cascadia Code SemiBold" panose="020B0609020000020004"/>
              </a:rPr>
              <a:t>Пётр Тортев </a:t>
            </a:r>
            <a:endParaRPr lang="ru-RU" sz="2000" b="1" i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pic>
        <p:nvPicPr>
          <p:cNvPr id="8" name="Мем" descr="s1_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2743200"/>
            <a:ext cx="3017520" cy="301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400800"/>
            <a:ext cx="12191695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111010"/>
                </a:solidFill>
                <a:latin typeface="Tahoma" panose="020B0604030504040204"/>
              </a:rPr>
              <a:t>ХАКАТОН ИССЛЕДОВАТЕЛЕЙ ВЫСШЕГО ОБРАЗОВАНИЯ – 2026 · НИУ ВШЭ</a:t>
            </a:r>
            <a:endParaRPr sz="1400" b="0" i="0">
              <a:solidFill>
                <a:srgbClr val="111010"/>
              </a:solidFill>
              <a:latin typeface="Tahoma" panose="020B060403050404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137160" y="164592"/>
            <a:ext cx="2514600" cy="384048"/>
          </a:xfrm>
          <a:prstGeom prst="homePlate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200" b="1">
                <a:solidFill>
                  <a:srgbClr val="111010"/>
                </a:solidFill>
                <a:latin typeface="Cascadia Code SemiBold" panose="020B0609020000020004"/>
              </a:rPr>
              <a:t>ДАННЫЕ</a:t>
            </a:r>
            <a:endParaRPr sz="1200" b="1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3" name="Chevron 2"/>
          <p:cNvSpPr/>
          <p:nvPr/>
        </p:nvSpPr>
        <p:spPr>
          <a:xfrm>
            <a:off x="2468879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200" b="0">
                <a:solidFill>
                  <a:srgbClr val="111010"/>
                </a:solidFill>
                <a:latin typeface="Cascadia Code SemiBold" panose="020B0609020000020004"/>
              </a:rPr>
              <a:t>МЕТОДЫ</a:t>
            </a:r>
            <a:endParaRPr sz="1200" b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4" name="Chevron 3"/>
          <p:cNvSpPr/>
          <p:nvPr/>
        </p:nvSpPr>
        <p:spPr>
          <a:xfrm>
            <a:off x="480060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200" b="0">
                <a:solidFill>
                  <a:srgbClr val="111010"/>
                </a:solidFill>
                <a:latin typeface="Cascadia Code SemiBold" panose="020B0609020000020004"/>
              </a:rPr>
              <a:t>РЕЗУЛЬТАТЫ</a:t>
            </a:r>
            <a:endParaRPr sz="1200" b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5" name="Chevron 4"/>
          <p:cNvSpPr/>
          <p:nvPr/>
        </p:nvSpPr>
        <p:spPr>
          <a:xfrm>
            <a:off x="713232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200" b="0">
                <a:solidFill>
                  <a:srgbClr val="111010"/>
                </a:solidFill>
                <a:latin typeface="Cascadia Code SemiBold" panose="020B0609020000020004"/>
              </a:rPr>
              <a:t>ОБСУЖДЕНИЕ</a:t>
            </a:r>
            <a:endParaRPr sz="1200" b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6" name="Chevron 5"/>
          <p:cNvSpPr/>
          <p:nvPr/>
        </p:nvSpPr>
        <p:spPr>
          <a:xfrm>
            <a:off x="946404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200" b="0">
                <a:solidFill>
                  <a:srgbClr val="111010"/>
                </a:solidFill>
                <a:latin typeface="Cascadia Code SemiBold" panose="020B0609020000020004"/>
              </a:rPr>
              <a:t>ПОДВАЛ</a:t>
            </a:r>
            <a:endParaRPr sz="1200" b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783080" cy="91440"/>
          </a:xfrm>
          <a:prstGeom prst="rect">
            <a:avLst/>
          </a:prstGeom>
          <a:solidFill>
            <a:srgbClr val="11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2743200" cy="128016"/>
          </a:xfrm>
          <a:prstGeom prst="rect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0" y="6355080"/>
            <a:ext cx="73152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848484"/>
                </a:solidFill>
                <a:latin typeface="Tahoma" panose="020B0604030504040204"/>
              </a:rPr>
              <a:t>2</a:t>
            </a:r>
            <a:endParaRPr sz="1200" b="0" i="0">
              <a:solidFill>
                <a:srgbClr val="848484"/>
              </a:solidFill>
              <a:latin typeface="Tahoma" panose="020B060403050404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731520"/>
            <a:ext cx="11247120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 i="0">
                <a:solidFill>
                  <a:srgbClr val="111010"/>
                </a:solidFill>
                <a:latin typeface="Arial Black" panose="020B0A04020102020204"/>
              </a:rPr>
              <a:t>Исследовательский вопрос</a:t>
            </a:r>
            <a:endParaRPr sz="2800" b="0" i="0">
              <a:solidFill>
                <a:srgbClr val="111010"/>
              </a:solidFill>
              <a:latin typeface="Arial Black" panose="020B0A04020102020204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097280" y="1691640"/>
            <a:ext cx="9966960" cy="1554480"/>
          </a:xfrm>
          <a:prstGeom prst="roundRect">
            <a:avLst>
              <a:gd name="adj" fmla="val 45000"/>
            </a:avLst>
          </a:prstGeom>
          <a:solidFill>
            <a:srgbClr val="FFE699"/>
          </a:solidFill>
          <a:ln w="2540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1828800"/>
            <a:ext cx="923544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 i="0">
                <a:solidFill>
                  <a:srgbClr val="111010"/>
                </a:solidFill>
                <a:latin typeface="Cascadia Code SemiBold" panose="020B0609020000020004"/>
              </a:rPr>
              <a:t>В каких аспектах совмещение учёбы и работы приносит студентам пользу, а в каких — создаёт дополнительные трудности?</a:t>
            </a:r>
            <a:endParaRPr sz="2200" b="0" i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97280" y="3657600"/>
            <a:ext cx="3108960" cy="2377440"/>
          </a:xfrm>
          <a:prstGeom prst="roundRect">
            <a:avLst>
              <a:gd name="adj" fmla="val 12000"/>
            </a:avLst>
          </a:prstGeom>
          <a:solidFill>
            <a:srgbClr val="FFF4D7"/>
          </a:solidFill>
          <a:ln w="1905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794760"/>
            <a:ext cx="27432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11010"/>
                </a:solidFill>
                <a:latin typeface="Cascadia Code SemiBold" panose="020B0609020000020004"/>
              </a:rPr>
              <a:t>Работа</a:t>
            </a:r>
            <a:endParaRPr sz="1800" b="1" i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280160" y="4251960"/>
            <a:ext cx="2743200" cy="1691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11010"/>
                </a:solidFill>
                <a:latin typeface="Tahoma" panose="020B0604030504040204"/>
              </a:rPr>
              <a:t>Факт работы</a:t>
            </a:r>
            <a:endParaRPr sz="1400" b="0" i="0">
              <a:solidFill>
                <a:srgbClr val="111010"/>
              </a:solidFill>
              <a:latin typeface="Tahoma" panose="020B0604030504040204"/>
            </a:endParaRP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11010"/>
                </a:solidFill>
                <a:latin typeface="Tahoma" panose="020B0604030504040204"/>
              </a:rPr>
              <a:t>Интенсивность: тип занятости и часы</a:t>
            </a:r>
            <a:endParaRPr sz="1400" b="0" i="0">
              <a:solidFill>
                <a:srgbClr val="111010"/>
              </a:solidFill>
              <a:latin typeface="Tahoma" panose="020B0604030504040204"/>
            </a:endParaRP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11010"/>
                </a:solidFill>
                <a:latin typeface="Tahoma" panose="020B0604030504040204"/>
              </a:rPr>
              <a:t>Тип: по специальности, мотив</a:t>
            </a:r>
            <a:endParaRPr sz="1400" b="0" i="0">
              <a:solidFill>
                <a:srgbClr val="111010"/>
              </a:solidFill>
              <a:latin typeface="Tahoma" panose="020B060403050404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526280" y="3657600"/>
            <a:ext cx="3108960" cy="2377440"/>
          </a:xfrm>
          <a:prstGeom prst="roundRect">
            <a:avLst>
              <a:gd name="adj" fmla="val 12000"/>
            </a:avLst>
          </a:prstGeom>
          <a:solidFill>
            <a:srgbClr val="FFF4D7"/>
          </a:solidFill>
          <a:ln w="1905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60" y="3794760"/>
            <a:ext cx="27432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11010"/>
                </a:solidFill>
                <a:latin typeface="Cascadia Code SemiBold" panose="020B0609020000020004"/>
              </a:rPr>
              <a:t>Учёба</a:t>
            </a:r>
            <a:endParaRPr sz="1800" b="1" i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09160" y="4251960"/>
            <a:ext cx="2743200" cy="1691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11010"/>
                </a:solidFill>
                <a:latin typeface="Tahoma" panose="020B0604030504040204"/>
              </a:rPr>
              <a:t>Оценки за сессию</a:t>
            </a:r>
            <a:endParaRPr sz="1400" b="0" i="0">
              <a:solidFill>
                <a:srgbClr val="111010"/>
              </a:solidFill>
              <a:latin typeface="Tahoma" panose="020B0604030504040204"/>
            </a:endParaRP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11010"/>
                </a:solidFill>
                <a:latin typeface="Tahoma" panose="020B0604030504040204"/>
              </a:rPr>
              <a:t>Удовлетворённость обучением</a:t>
            </a:r>
            <a:endParaRPr sz="1400" b="0" i="0">
              <a:solidFill>
                <a:srgbClr val="111010"/>
              </a:solidFill>
              <a:latin typeface="Tahoma" panose="020B0604030504040204"/>
            </a:endParaRP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11010"/>
                </a:solidFill>
                <a:latin typeface="Tahoma" panose="020B0604030504040204"/>
              </a:rPr>
              <a:t>Мысли об отчислении</a:t>
            </a:r>
            <a:endParaRPr sz="1400" b="0" i="0">
              <a:solidFill>
                <a:srgbClr val="111010"/>
              </a:solidFill>
              <a:latin typeface="Tahoma" panose="020B0604030504040204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7955279" y="3657600"/>
            <a:ext cx="3108960" cy="2377440"/>
          </a:xfrm>
          <a:prstGeom prst="roundRect">
            <a:avLst>
              <a:gd name="adj" fmla="val 12000"/>
            </a:avLst>
          </a:prstGeom>
          <a:solidFill>
            <a:srgbClr val="FFF4D7"/>
          </a:solidFill>
          <a:ln w="1905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59" y="3794760"/>
            <a:ext cx="27432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11010"/>
                </a:solidFill>
                <a:latin typeface="Cascadia Code SemiBold" panose="020B0609020000020004"/>
              </a:rPr>
              <a:t>Здоровье</a:t>
            </a:r>
            <a:endParaRPr sz="1800" b="1" i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138159" y="4251960"/>
            <a:ext cx="2743200" cy="1691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11010"/>
                </a:solidFill>
                <a:latin typeface="Tahoma" panose="020B0604030504040204"/>
              </a:rPr>
              <a:t>Продолжительность сна</a:t>
            </a:r>
            <a:endParaRPr sz="1400" b="0" i="0">
              <a:solidFill>
                <a:srgbClr val="111010"/>
              </a:solidFill>
              <a:latin typeface="Tahoma" panose="020B0604030504040204"/>
            </a:endParaRP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11010"/>
                </a:solidFill>
                <a:latin typeface="Tahoma" panose="020B0604030504040204"/>
              </a:rPr>
              <a:t>Спорт</a:t>
            </a:r>
            <a:endParaRPr sz="1400" b="0" i="0">
              <a:solidFill>
                <a:srgbClr val="111010"/>
              </a:solidFill>
              <a:latin typeface="Tahoma" panose="020B0604030504040204"/>
            </a:endParaRP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11010"/>
                </a:solidFill>
                <a:latin typeface="Tahoma" panose="020B0604030504040204"/>
              </a:rPr>
              <a:t>Курение и алкоголь</a:t>
            </a:r>
            <a:endParaRPr sz="1400" b="0" i="0">
              <a:solidFill>
                <a:srgbClr val="111010"/>
              </a:solidFill>
              <a:latin typeface="Tahoma" panose="020B060403050404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137160" y="164592"/>
            <a:ext cx="2514600" cy="384048"/>
          </a:xfrm>
          <a:prstGeom prst="homePlate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200" b="1">
                <a:solidFill>
                  <a:srgbClr val="111010"/>
                </a:solidFill>
                <a:latin typeface="Cascadia Code SemiBold" panose="020B0609020000020004"/>
              </a:rPr>
              <a:t>ДАННЫЕ</a:t>
            </a:r>
            <a:endParaRPr sz="1200" b="1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3" name="Chevron 2"/>
          <p:cNvSpPr/>
          <p:nvPr/>
        </p:nvSpPr>
        <p:spPr>
          <a:xfrm>
            <a:off x="2468879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200" b="0">
                <a:solidFill>
                  <a:srgbClr val="111010"/>
                </a:solidFill>
                <a:latin typeface="Cascadia Code SemiBold" panose="020B0609020000020004"/>
              </a:rPr>
              <a:t>МЕТОДЫ</a:t>
            </a:r>
            <a:endParaRPr sz="1200" b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4" name="Chevron 3"/>
          <p:cNvSpPr/>
          <p:nvPr/>
        </p:nvSpPr>
        <p:spPr>
          <a:xfrm>
            <a:off x="480060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200" b="0">
                <a:solidFill>
                  <a:srgbClr val="111010"/>
                </a:solidFill>
                <a:latin typeface="Cascadia Code SemiBold" panose="020B0609020000020004"/>
              </a:rPr>
              <a:t>РЕЗУЛЬТАТЫ</a:t>
            </a:r>
            <a:endParaRPr sz="1200" b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5" name="Chevron 4"/>
          <p:cNvSpPr/>
          <p:nvPr/>
        </p:nvSpPr>
        <p:spPr>
          <a:xfrm>
            <a:off x="713232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200" b="0">
                <a:solidFill>
                  <a:srgbClr val="111010"/>
                </a:solidFill>
                <a:latin typeface="Cascadia Code SemiBold" panose="020B0609020000020004"/>
              </a:rPr>
              <a:t>ОБСУЖДЕНИЕ</a:t>
            </a:r>
            <a:endParaRPr sz="1200" b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6" name="Chevron 5"/>
          <p:cNvSpPr/>
          <p:nvPr/>
        </p:nvSpPr>
        <p:spPr>
          <a:xfrm>
            <a:off x="946404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200" b="0">
                <a:solidFill>
                  <a:srgbClr val="111010"/>
                </a:solidFill>
                <a:latin typeface="Cascadia Code SemiBold" panose="020B0609020000020004"/>
              </a:rPr>
              <a:t>ПОДВАЛ</a:t>
            </a:r>
            <a:endParaRPr sz="1200" b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783080" cy="91440"/>
          </a:xfrm>
          <a:prstGeom prst="rect">
            <a:avLst/>
          </a:prstGeom>
          <a:solidFill>
            <a:srgbClr val="11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2743200" cy="128016"/>
          </a:xfrm>
          <a:prstGeom prst="rect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0" y="6355080"/>
            <a:ext cx="73152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848484"/>
                </a:solidFill>
                <a:latin typeface="Tahoma" panose="020B0604030504040204"/>
              </a:rPr>
              <a:t>3</a:t>
            </a:r>
            <a:endParaRPr sz="1200" b="0" i="0">
              <a:solidFill>
                <a:srgbClr val="848484"/>
              </a:solidFill>
              <a:latin typeface="Tahoma" panose="020B060403050404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731520"/>
            <a:ext cx="11247120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 i="0">
                <a:solidFill>
                  <a:srgbClr val="111010"/>
                </a:solidFill>
                <a:latin typeface="Arial Black" panose="020B0A04020102020204"/>
              </a:rPr>
              <a:t>Структура данных</a:t>
            </a:r>
            <a:endParaRPr sz="2800" b="0" i="0">
              <a:solidFill>
                <a:srgbClr val="111010"/>
              </a:solidFill>
              <a:latin typeface="Arial Black" panose="020B0A0402010202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743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111010"/>
                </a:solidFill>
                <a:latin typeface="Cascadia Code SemiBold" panose="020B0609020000020004"/>
              </a:rPr>
              <a:t>5 831</a:t>
            </a:r>
            <a:endParaRPr sz="5400" b="1" i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" y="2651760"/>
            <a:ext cx="2743200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11010"/>
                </a:solidFill>
                <a:latin typeface="Tahoma" panose="020B0604030504040204"/>
              </a:rPr>
              <a:t>строка в массиве
(одна строка — один студент)</a:t>
            </a:r>
            <a:endParaRPr sz="1400" b="0" i="0">
              <a:solidFill>
                <a:srgbClr val="111010"/>
              </a:solidFill>
              <a:latin typeface="Tahoma" panose="020B060403050404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566160" y="1737360"/>
            <a:ext cx="2743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111010"/>
                </a:solidFill>
                <a:latin typeface="Cascadia Code SemiBold" panose="020B0609020000020004"/>
              </a:rPr>
              <a:t>82</a:t>
            </a:r>
            <a:endParaRPr sz="5400" b="1" i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566160" y="2651760"/>
            <a:ext cx="2743200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11010"/>
                </a:solidFill>
                <a:latin typeface="Tahoma" panose="020B0604030504040204"/>
              </a:rPr>
              <a:t>переменные: занятость,
опыт обучения, здоровье</a:t>
            </a:r>
            <a:endParaRPr sz="1400" b="0" i="0">
              <a:solidFill>
                <a:srgbClr val="111010"/>
              </a:solidFill>
              <a:latin typeface="Tahoma" panose="020B060403050404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309360" y="1737360"/>
            <a:ext cx="2743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111010"/>
                </a:solidFill>
                <a:latin typeface="Cascadia Code SemiBold" panose="020B0609020000020004"/>
              </a:rPr>
              <a:t>9</a:t>
            </a:r>
            <a:endParaRPr sz="5400" b="1" i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2743200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11010"/>
                </a:solidFill>
                <a:latin typeface="Tahoma" panose="020B0604030504040204"/>
              </a:rPr>
              <a:t>селективных
российских вузов</a:t>
            </a:r>
            <a:endParaRPr sz="1400" b="0" i="0">
              <a:solidFill>
                <a:srgbClr val="111010"/>
              </a:solidFill>
              <a:latin typeface="Tahoma" panose="020B060403050404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869680" y="1737360"/>
            <a:ext cx="292608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11010"/>
                </a:solidFill>
                <a:latin typeface="Cascadia Code SemiBold" panose="020B0609020000020004"/>
              </a:rPr>
              <a:t>2 волны</a:t>
            </a:r>
            <a:endParaRPr sz="4000" b="1" i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869680" y="2651760"/>
            <a:ext cx="2926080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11010"/>
                </a:solidFill>
                <a:latin typeface="Tahoma" panose="020B0604030504040204"/>
              </a:rPr>
              <a:t>2024/25 — 3 курс
2025/26 — 4 курс</a:t>
            </a:r>
            <a:endParaRPr sz="1400" b="0" i="0">
              <a:solidFill>
                <a:srgbClr val="111010"/>
              </a:solidFill>
              <a:latin typeface="Tahoma" panose="020B0604030504040204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40080" y="3977639"/>
          <a:ext cx="69494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82880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l"/>
                      <a:endParaRPr sz="1400" b="1">
                        <a:solidFill>
                          <a:srgbClr val="111010"/>
                        </a:solidFill>
                        <a:latin typeface="Tahoma" panose="020B0604030504040204"/>
                      </a:endParaRPr>
                    </a:p>
                  </a:txBody>
                  <a:tcPr marL="73152" marR="73152" anchor="ctr"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010"/>
                          </a:solidFill>
                          <a:latin typeface="Tahoma" panose="020B0604030504040204"/>
                        </a:rPr>
                        <a:t>Участников</a:t>
                      </a:r>
                      <a:endParaRPr sz="1400" b="1">
                        <a:solidFill>
                          <a:srgbClr val="111010"/>
                        </a:solidFill>
                        <a:latin typeface="Tahoma" panose="020B0604030504040204"/>
                      </a:endParaRPr>
                    </a:p>
                  </a:txBody>
                  <a:tcPr marL="73152" marR="73152" anchor="ctr"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010"/>
                          </a:solidFill>
                          <a:latin typeface="Tahoma" panose="020B0604030504040204"/>
                        </a:rPr>
                        <a:t>Полных анкет</a:t>
                      </a:r>
                      <a:endParaRPr sz="1400" b="1">
                        <a:solidFill>
                          <a:srgbClr val="111010"/>
                        </a:solidFill>
                        <a:latin typeface="Tahoma" panose="020B0604030504040204"/>
                      </a:endParaRPr>
                    </a:p>
                  </a:txBody>
                  <a:tcPr marL="73152" marR="73152" anchor="ctr">
                    <a:solidFill>
                      <a:srgbClr val="FFD96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010"/>
                          </a:solidFill>
                          <a:latin typeface="Tahoma" panose="020B0604030504040204"/>
                        </a:rPr>
                        <a:t>3 волна (3 курс)</a:t>
                      </a:r>
                      <a:endParaRPr sz="1400" b="0">
                        <a:solidFill>
                          <a:srgbClr val="111010"/>
                        </a:solidFill>
                        <a:latin typeface="Tahoma" panose="020B0604030504040204"/>
                      </a:endParaRPr>
                    </a:p>
                  </a:txBody>
                  <a:tcPr marL="73152" marR="73152" anchor="ctr">
                    <a:solidFill>
                      <a:srgbClr val="FFF4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010"/>
                          </a:solidFill>
                          <a:latin typeface="Tahoma" panose="020B0604030504040204"/>
                        </a:rPr>
                        <a:t>1 236</a:t>
                      </a:r>
                      <a:endParaRPr sz="1400" b="0">
                        <a:solidFill>
                          <a:srgbClr val="111010"/>
                        </a:solidFill>
                        <a:latin typeface="Tahoma" panose="020B0604030504040204"/>
                      </a:endParaRPr>
                    </a:p>
                  </a:txBody>
                  <a:tcPr marL="73152" marR="73152" anchor="ctr">
                    <a:solidFill>
                      <a:srgbClr val="FFF4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010"/>
                          </a:solidFill>
                          <a:latin typeface="Tahoma" panose="020B0604030504040204"/>
                        </a:rPr>
                        <a:t>1 211</a:t>
                      </a:r>
                      <a:endParaRPr sz="1400" b="0">
                        <a:solidFill>
                          <a:srgbClr val="111010"/>
                        </a:solidFill>
                        <a:latin typeface="Tahoma" panose="020B0604030504040204"/>
                      </a:endParaRPr>
                    </a:p>
                  </a:txBody>
                  <a:tcPr marL="73152" marR="73152" anchor="ctr">
                    <a:solidFill>
                      <a:srgbClr val="FFF4D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010"/>
                          </a:solidFill>
                          <a:latin typeface="Tahoma" panose="020B0604030504040204"/>
                        </a:rPr>
                        <a:t>4 волна (4 курс)</a:t>
                      </a:r>
                      <a:endParaRPr sz="1400" b="0">
                        <a:solidFill>
                          <a:srgbClr val="111010"/>
                        </a:solidFill>
                        <a:latin typeface="Tahoma" panose="020B0604030504040204"/>
                      </a:endParaRP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010"/>
                          </a:solidFill>
                          <a:latin typeface="Tahoma" panose="020B0604030504040204"/>
                        </a:rPr>
                        <a:t>1 513</a:t>
                      </a:r>
                      <a:endParaRPr sz="1400" b="0">
                        <a:solidFill>
                          <a:srgbClr val="111010"/>
                        </a:solidFill>
                        <a:latin typeface="Tahoma" panose="020B0604030504040204"/>
                      </a:endParaRP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010"/>
                          </a:solidFill>
                          <a:latin typeface="Tahoma" panose="020B0604030504040204"/>
                        </a:rPr>
                        <a:t>914</a:t>
                      </a:r>
                      <a:endParaRPr sz="1400" b="0">
                        <a:solidFill>
                          <a:srgbClr val="111010"/>
                        </a:solidFill>
                        <a:latin typeface="Tahoma" panose="020B0604030504040204"/>
                      </a:endParaRP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010"/>
                          </a:solidFill>
                          <a:latin typeface="Tahoma" panose="020B0604030504040204"/>
                        </a:rPr>
                        <a:t>В обеих волнах</a:t>
                      </a:r>
                      <a:endParaRPr sz="1400" b="0">
                        <a:solidFill>
                          <a:srgbClr val="111010"/>
                        </a:solidFill>
                        <a:latin typeface="Tahoma" panose="020B0604030504040204"/>
                      </a:endParaRPr>
                    </a:p>
                  </a:txBody>
                  <a:tcPr marL="73152" marR="73152" anchor="ctr">
                    <a:solidFill>
                      <a:srgbClr val="FFF4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010"/>
                          </a:solidFill>
                          <a:latin typeface="Tahoma" panose="020B0604030504040204"/>
                        </a:rPr>
                        <a:t>724</a:t>
                      </a:r>
                      <a:endParaRPr sz="1400" b="0">
                        <a:solidFill>
                          <a:srgbClr val="111010"/>
                        </a:solidFill>
                        <a:latin typeface="Tahoma" panose="020B0604030504040204"/>
                      </a:endParaRPr>
                    </a:p>
                  </a:txBody>
                  <a:tcPr marL="73152" marR="73152" anchor="ctr">
                    <a:solidFill>
                      <a:srgbClr val="FFF4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010"/>
                          </a:solidFill>
                          <a:latin typeface="Tahoma" panose="020B0604030504040204"/>
                        </a:rPr>
                        <a:t>566 (с ответом о работе)</a:t>
                      </a:r>
                      <a:endParaRPr sz="1400" b="0">
                        <a:solidFill>
                          <a:srgbClr val="111010"/>
                        </a:solidFill>
                        <a:latin typeface="Tahoma" panose="020B0604030504040204"/>
                      </a:endParaRPr>
                    </a:p>
                  </a:txBody>
                  <a:tcPr marL="73152" marR="73152" anchor="ctr">
                    <a:solidFill>
                      <a:srgbClr val="FFF4D7"/>
                    </a:solidFill>
                  </a:tcPr>
                </a:tc>
              </a:tr>
            </a:tbl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8046720" y="3977639"/>
            <a:ext cx="3566160" cy="1600200"/>
          </a:xfrm>
          <a:prstGeom prst="roundRect">
            <a:avLst>
              <a:gd name="adj" fmla="val 12000"/>
            </a:avLst>
          </a:prstGeom>
          <a:solidFill>
            <a:srgbClr val="FFF4D7"/>
          </a:solidFill>
          <a:ln w="1905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4114800"/>
            <a:ext cx="3200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11010"/>
                </a:solidFill>
                <a:latin typeface="Cascadia Code SemiBold" panose="020B0609020000020004"/>
              </a:rPr>
              <a:t>Особенность</a:t>
            </a:r>
            <a:endParaRPr sz="1600" b="1" i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229600" y="4572000"/>
            <a:ext cx="32004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11010"/>
                </a:solidFill>
                <a:latin typeface="Tahoma" panose="020B0604030504040204"/>
              </a:rPr>
              <a:t>Формат «одна строка — студент»: ответы волн в разных колонках (_3w, _4w)</a:t>
            </a:r>
            <a:endParaRPr sz="1300" b="0" i="0">
              <a:solidFill>
                <a:srgbClr val="111010"/>
              </a:solidFill>
              <a:latin typeface="Tahoma" panose="020B060403050404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137160" y="164592"/>
            <a:ext cx="2514600" cy="384048"/>
          </a:xfrm>
          <a:prstGeom prst="homePlate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200" b="1">
                <a:solidFill>
                  <a:srgbClr val="111010"/>
                </a:solidFill>
                <a:latin typeface="Cascadia Code SemiBold" panose="020B0609020000020004"/>
              </a:rPr>
              <a:t>ДАННЫЕ</a:t>
            </a:r>
            <a:endParaRPr sz="1200" b="1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3" name="Chevron 2"/>
          <p:cNvSpPr/>
          <p:nvPr/>
        </p:nvSpPr>
        <p:spPr>
          <a:xfrm>
            <a:off x="2468879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200" b="0">
                <a:solidFill>
                  <a:srgbClr val="111010"/>
                </a:solidFill>
                <a:latin typeface="Cascadia Code SemiBold" panose="020B0609020000020004"/>
              </a:rPr>
              <a:t>МЕТОДЫ</a:t>
            </a:r>
            <a:endParaRPr sz="1200" b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4" name="Chevron 3"/>
          <p:cNvSpPr/>
          <p:nvPr/>
        </p:nvSpPr>
        <p:spPr>
          <a:xfrm>
            <a:off x="480060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200" b="0">
                <a:solidFill>
                  <a:srgbClr val="111010"/>
                </a:solidFill>
                <a:latin typeface="Cascadia Code SemiBold" panose="020B0609020000020004"/>
              </a:rPr>
              <a:t>РЕЗУЛЬТАТЫ</a:t>
            </a:r>
            <a:endParaRPr sz="1200" b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5" name="Chevron 4"/>
          <p:cNvSpPr/>
          <p:nvPr/>
        </p:nvSpPr>
        <p:spPr>
          <a:xfrm>
            <a:off x="713232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200" b="0">
                <a:solidFill>
                  <a:srgbClr val="111010"/>
                </a:solidFill>
                <a:latin typeface="Cascadia Code SemiBold" panose="020B0609020000020004"/>
              </a:rPr>
              <a:t>ОБСУЖДЕНИЕ</a:t>
            </a:r>
            <a:endParaRPr sz="1200" b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6" name="Chevron 5"/>
          <p:cNvSpPr/>
          <p:nvPr/>
        </p:nvSpPr>
        <p:spPr>
          <a:xfrm>
            <a:off x="946404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200" b="0">
                <a:solidFill>
                  <a:srgbClr val="111010"/>
                </a:solidFill>
                <a:latin typeface="Cascadia Code SemiBold" panose="020B0609020000020004"/>
              </a:rPr>
              <a:t>ПОДВАЛ</a:t>
            </a:r>
            <a:endParaRPr sz="1200" b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783080" cy="91440"/>
          </a:xfrm>
          <a:prstGeom prst="rect">
            <a:avLst/>
          </a:prstGeom>
          <a:solidFill>
            <a:srgbClr val="11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2743200" cy="128016"/>
          </a:xfrm>
          <a:prstGeom prst="rect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0" y="6355080"/>
            <a:ext cx="73152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848484"/>
                </a:solidFill>
                <a:latin typeface="Tahoma" panose="020B0604030504040204"/>
              </a:rPr>
              <a:t>4</a:t>
            </a:r>
            <a:endParaRPr sz="1200" b="0" i="0">
              <a:solidFill>
                <a:srgbClr val="848484"/>
              </a:solidFill>
              <a:latin typeface="Tahoma" panose="020B060403050404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731520"/>
            <a:ext cx="11247120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 i="0">
                <a:solidFill>
                  <a:srgbClr val="111010"/>
                </a:solidFill>
                <a:latin typeface="Arial Black" panose="020B0A04020102020204"/>
              </a:rPr>
              <a:t>Предобработка</a:t>
            </a:r>
            <a:endParaRPr sz="2800" b="0" i="0">
              <a:solidFill>
                <a:srgbClr val="111010"/>
              </a:solidFill>
              <a:latin typeface="Arial Black" panose="020B0A04020102020204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640080" y="1645920"/>
            <a:ext cx="438912" cy="438912"/>
          </a:xfrm>
          <a:prstGeom prst="ellipse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645920"/>
            <a:ext cx="438912" cy="438912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111010"/>
                </a:solidFill>
                <a:latin typeface="Cascadia Code SemiBold" panose="020B0609020000020004"/>
              </a:rPr>
              <a:t>1</a:t>
            </a:r>
            <a:endParaRPr sz="1400" b="1" i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234440" y="1664208"/>
            <a:ext cx="658368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11010"/>
                </a:solidFill>
                <a:latin typeface="Tahoma" panose="020B0604030504040204"/>
              </a:rPr>
              <a:t>Названия по PEP8: </a:t>
            </a:r>
            <a:r>
              <a:rPr sz="1500" b="0" i="0">
                <a:solidFill>
                  <a:srgbClr val="111010"/>
                </a:solidFill>
                <a:latin typeface="Tahoma" panose="020B0604030504040204"/>
              </a:rPr>
              <a:t>единая схема &lt;вопрос&gt;_&lt;волна&gt;</a:t>
            </a:r>
            <a:endParaRPr sz="1500" b="0" i="0">
              <a:solidFill>
                <a:srgbClr val="111010"/>
              </a:solidFill>
              <a:latin typeface="Tahoma" panose="020B0604030504040204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640080" y="2267712"/>
            <a:ext cx="438912" cy="438912"/>
          </a:xfrm>
          <a:prstGeom prst="ellipse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267712"/>
            <a:ext cx="438912" cy="438912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111010"/>
                </a:solidFill>
                <a:latin typeface="Cascadia Code SemiBold" panose="020B0609020000020004"/>
              </a:rPr>
              <a:t>2</a:t>
            </a:r>
            <a:endParaRPr sz="1400" b="1" i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234440" y="2286000"/>
            <a:ext cx="658368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11010"/>
                </a:solidFill>
                <a:latin typeface="Tahoma" panose="020B0604030504040204"/>
              </a:rPr>
              <a:t>Типы данных: </a:t>
            </a:r>
            <a:r>
              <a:rPr sz="1500" b="0" i="0">
                <a:solidFill>
                  <a:srgbClr val="111010"/>
                </a:solidFill>
                <a:latin typeface="Tahoma" panose="020B0604030504040204"/>
              </a:rPr>
              <a:t>коды → Int64, флаги 0/1</a:t>
            </a:r>
            <a:endParaRPr sz="1500" b="0" i="0">
              <a:solidFill>
                <a:srgbClr val="111010"/>
              </a:solidFill>
              <a:latin typeface="Tahoma" panose="020B0604030504040204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640080" y="2889504"/>
            <a:ext cx="438912" cy="438912"/>
          </a:xfrm>
          <a:prstGeom prst="ellipse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889504"/>
            <a:ext cx="438912" cy="438912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111010"/>
                </a:solidFill>
                <a:latin typeface="Cascadia Code SemiBold" panose="020B0609020000020004"/>
              </a:rPr>
              <a:t>3</a:t>
            </a:r>
            <a:endParaRPr sz="1400" b="1" i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234440" y="2907792"/>
            <a:ext cx="658368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11010"/>
                </a:solidFill>
                <a:latin typeface="Tahoma" panose="020B0604030504040204"/>
              </a:rPr>
              <a:t>Пустые строки: </a:t>
            </a:r>
            <a:r>
              <a:rPr sz="1500" b="0" i="0">
                <a:solidFill>
                  <a:srgbClr val="111010"/>
                </a:solidFill>
                <a:latin typeface="Tahoma" panose="020B0604030504040204"/>
              </a:rPr>
              <a:t>удалено 265 (4.5%) — в них не было ни одного ответа</a:t>
            </a:r>
            <a:endParaRPr sz="1500" b="0" i="0">
              <a:solidFill>
                <a:srgbClr val="111010"/>
              </a:solidFill>
              <a:latin typeface="Tahoma" panose="020B0604030504040204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640080" y="3511296"/>
            <a:ext cx="438912" cy="438912"/>
          </a:xfrm>
          <a:prstGeom prst="ellipse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511296"/>
            <a:ext cx="438912" cy="438912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111010"/>
                </a:solidFill>
                <a:latin typeface="Cascadia Code SemiBold" panose="020B0609020000020004"/>
              </a:rPr>
              <a:t>4</a:t>
            </a:r>
            <a:endParaRPr sz="1400" b="1" i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234440" y="3529584"/>
            <a:ext cx="658368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11010"/>
                </a:solidFill>
                <a:latin typeface="Tahoma" panose="020B0604030504040204"/>
              </a:rPr>
              <a:t>Опечатки: </a:t>
            </a:r>
            <a:r>
              <a:rPr sz="1500" b="0" i="0">
                <a:solidFill>
                  <a:srgbClr val="111010"/>
                </a:solidFill>
                <a:latin typeface="Tahoma" panose="020B0604030504040204"/>
              </a:rPr>
              <a:t>все коды сверены с анкетой — ошибок нет</a:t>
            </a:r>
            <a:endParaRPr sz="1500" b="0" i="0">
              <a:solidFill>
                <a:srgbClr val="111010"/>
              </a:solidFill>
              <a:latin typeface="Tahoma" panose="020B0604030504040204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640080" y="4133088"/>
            <a:ext cx="438912" cy="438912"/>
          </a:xfrm>
          <a:prstGeom prst="ellipse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133088"/>
            <a:ext cx="438912" cy="438912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111010"/>
                </a:solidFill>
                <a:latin typeface="Cascadia Code SemiBold" panose="020B0609020000020004"/>
              </a:rPr>
              <a:t>5</a:t>
            </a:r>
            <a:endParaRPr sz="1400" b="1" i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234440" y="4151376"/>
            <a:ext cx="658368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11010"/>
                </a:solidFill>
                <a:latin typeface="Tahoma" panose="020B0604030504040204"/>
              </a:rPr>
              <a:t>Служебные коды: </a:t>
            </a:r>
            <a:r>
              <a:rPr sz="1500" b="0" i="0">
                <a:solidFill>
                  <a:srgbClr val="111010"/>
                </a:solidFill>
                <a:latin typeface="Tahoma" panose="020B0604030504040204"/>
              </a:rPr>
              <a:t>«затрудняюсь», «другое» → пропуск</a:t>
            </a:r>
            <a:endParaRPr sz="1500" b="0" i="0">
              <a:solidFill>
                <a:srgbClr val="111010"/>
              </a:solidFill>
              <a:latin typeface="Tahoma" panose="020B0604030504040204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640080" y="4754880"/>
            <a:ext cx="438912" cy="438912"/>
          </a:xfrm>
          <a:prstGeom prst="ellipse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754880"/>
            <a:ext cx="438912" cy="438912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111010"/>
                </a:solidFill>
                <a:latin typeface="Cascadia Code SemiBold" panose="020B0609020000020004"/>
              </a:rPr>
              <a:t>6</a:t>
            </a:r>
            <a:endParaRPr sz="1400" b="1" i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234440" y="4773168"/>
            <a:ext cx="658368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11010"/>
                </a:solidFill>
                <a:latin typeface="Tahoma" panose="020B0604030504040204"/>
              </a:rPr>
              <a:t>Выбросы в часах: </a:t>
            </a:r>
            <a:r>
              <a:rPr sz="1500" b="0" i="0">
                <a:solidFill>
                  <a:srgbClr val="111010"/>
                </a:solidFill>
                <a:latin typeface="Tahoma" panose="020B0604030504040204"/>
              </a:rPr>
              <a:t>модуль, &gt; 168 ч и &gt; Q3 + 3·IQR → пропуск</a:t>
            </a:r>
            <a:endParaRPr sz="1500" b="0" i="0">
              <a:solidFill>
                <a:srgbClr val="111010"/>
              </a:solidFill>
              <a:latin typeface="Tahoma" panose="020B0604030504040204"/>
            </a:endParaRPr>
          </a:p>
        </p:txBody>
      </p:sp>
      <p:sp>
        <p:nvSpPr>
          <p:cNvPr id="29" name="Oval 28"/>
          <p:cNvSpPr/>
          <p:nvPr/>
        </p:nvSpPr>
        <p:spPr>
          <a:xfrm>
            <a:off x="640080" y="5376672"/>
            <a:ext cx="438912" cy="438912"/>
          </a:xfrm>
          <a:prstGeom prst="ellipse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376672"/>
            <a:ext cx="438912" cy="438912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111010"/>
                </a:solidFill>
                <a:latin typeface="Cascadia Code SemiBold" panose="020B0609020000020004"/>
              </a:rPr>
              <a:t>7</a:t>
            </a:r>
            <a:endParaRPr sz="1400" b="1" i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234440" y="5394959"/>
            <a:ext cx="658368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11010"/>
                </a:solidFill>
                <a:latin typeface="Tahoma" panose="020B0604030504040204"/>
              </a:rPr>
              <a:t>Пропуски: </a:t>
            </a:r>
            <a:r>
              <a:rPr sz="1500" b="0" i="0">
                <a:solidFill>
                  <a:srgbClr val="111010"/>
                </a:solidFill>
                <a:latin typeface="Tahoma" panose="020B0604030504040204"/>
              </a:rPr>
              <a:t>не заполнял: они структурные; 0 ч у неработающих</a:t>
            </a:r>
            <a:endParaRPr sz="1500" b="0" i="0">
              <a:solidFill>
                <a:srgbClr val="111010"/>
              </a:solidFill>
              <a:latin typeface="Tahoma" panose="020B0604030504040204"/>
            </a:endParaRPr>
          </a:p>
        </p:txBody>
      </p:sp>
      <p:pic>
        <p:nvPicPr>
          <p:cNvPr id="32" name="Мем" descr="s3_25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5325" y="1645920"/>
            <a:ext cx="2654709" cy="2743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138160" y="4754880"/>
            <a:ext cx="3749039" cy="11887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111010"/>
                </a:solidFill>
                <a:latin typeface="Cascadia Code SemiBold" panose="020B0609020000020004"/>
              </a:rPr>
              <a:t>5 566 студентов</a:t>
            </a:r>
            <a:endParaRPr sz="2200" b="1" i="0">
              <a:solidFill>
                <a:srgbClr val="111010"/>
              </a:solidFill>
              <a:latin typeface="Cascadia Code SemiBold" panose="020B0609020000020004"/>
            </a:endParaRPr>
          </a:p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111010"/>
                </a:solidFill>
                <a:latin typeface="Cascadia Code SemiBold" panose="020B0609020000020004"/>
              </a:rPr>
              <a:t>в обработанной таблице</a:t>
            </a:r>
            <a:endParaRPr sz="2200" b="1" i="0">
              <a:solidFill>
                <a:srgbClr val="111010"/>
              </a:solidFill>
              <a:latin typeface="Cascadia Code SemiBold" panose="020B06090200000200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137160" y="164592"/>
            <a:ext cx="2514600" cy="384048"/>
          </a:xfrm>
          <a:prstGeom prst="homePlate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200" b="1">
                <a:solidFill>
                  <a:srgbClr val="111010"/>
                </a:solidFill>
                <a:latin typeface="Cascadia Code SemiBold" panose="020B0609020000020004"/>
              </a:rPr>
              <a:t>ДАННЫЕ</a:t>
            </a:r>
            <a:endParaRPr sz="1200" b="1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3" name="Chevron 2"/>
          <p:cNvSpPr/>
          <p:nvPr/>
        </p:nvSpPr>
        <p:spPr>
          <a:xfrm>
            <a:off x="2468879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200" b="0">
                <a:solidFill>
                  <a:srgbClr val="111010"/>
                </a:solidFill>
                <a:latin typeface="Cascadia Code SemiBold" panose="020B0609020000020004"/>
              </a:rPr>
              <a:t>МЕТОДЫ</a:t>
            </a:r>
            <a:endParaRPr sz="1200" b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4" name="Chevron 3"/>
          <p:cNvSpPr/>
          <p:nvPr/>
        </p:nvSpPr>
        <p:spPr>
          <a:xfrm>
            <a:off x="480060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200" b="0">
                <a:solidFill>
                  <a:srgbClr val="111010"/>
                </a:solidFill>
                <a:latin typeface="Cascadia Code SemiBold" panose="020B0609020000020004"/>
              </a:rPr>
              <a:t>РЕЗУЛЬТАТЫ</a:t>
            </a:r>
            <a:endParaRPr sz="1200" b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5" name="Chevron 4"/>
          <p:cNvSpPr/>
          <p:nvPr/>
        </p:nvSpPr>
        <p:spPr>
          <a:xfrm>
            <a:off x="713232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200" b="0">
                <a:solidFill>
                  <a:srgbClr val="111010"/>
                </a:solidFill>
                <a:latin typeface="Cascadia Code SemiBold" panose="020B0609020000020004"/>
              </a:rPr>
              <a:t>ОБСУЖДЕНИЕ</a:t>
            </a:r>
            <a:endParaRPr sz="1200" b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6" name="Chevron 5"/>
          <p:cNvSpPr/>
          <p:nvPr/>
        </p:nvSpPr>
        <p:spPr>
          <a:xfrm>
            <a:off x="9464040" y="164592"/>
            <a:ext cx="2514600" cy="384048"/>
          </a:xfrm>
          <a:prstGeom prst="chevron">
            <a:avLst/>
          </a:prstGeom>
          <a:solidFill>
            <a:srgbClr val="FFF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200" b="0">
                <a:solidFill>
                  <a:srgbClr val="111010"/>
                </a:solidFill>
                <a:latin typeface="Cascadia Code SemiBold" panose="020B0609020000020004"/>
              </a:rPr>
              <a:t>ПОДВАЛ</a:t>
            </a:r>
            <a:endParaRPr sz="1200" b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783080" cy="91440"/>
          </a:xfrm>
          <a:prstGeom prst="rect">
            <a:avLst/>
          </a:prstGeom>
          <a:solidFill>
            <a:srgbClr val="11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2743200" cy="128016"/>
          </a:xfrm>
          <a:prstGeom prst="rect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0" y="6355080"/>
            <a:ext cx="73152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848484"/>
                </a:solidFill>
                <a:latin typeface="Tahoma" panose="020B0604030504040204"/>
              </a:rPr>
              <a:t>5</a:t>
            </a:r>
            <a:endParaRPr sz="1200" b="0" i="0">
              <a:solidFill>
                <a:srgbClr val="848484"/>
              </a:solidFill>
              <a:latin typeface="Tahoma" panose="020B060403050404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731520"/>
            <a:ext cx="11247120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 i="0">
                <a:solidFill>
                  <a:srgbClr val="111010"/>
                </a:solidFill>
                <a:latin typeface="Arial Black" panose="020B0A04020102020204"/>
              </a:rPr>
              <a:t>Находка: 599 «прокликанных» анкет</a:t>
            </a:r>
            <a:endParaRPr sz="2800" b="0" i="0">
              <a:solidFill>
                <a:srgbClr val="111010"/>
              </a:solidFill>
              <a:latin typeface="Arial Black" panose="020B0A04020102020204"/>
            </a:endParaRP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57200" y="1600200"/>
          <a:ext cx="7498079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8229600" y="1737360"/>
            <a:ext cx="3474720" cy="2103120"/>
          </a:xfrm>
          <a:prstGeom prst="roundRect">
            <a:avLst>
              <a:gd name="adj" fmla="val 12000"/>
            </a:avLst>
          </a:prstGeom>
          <a:solidFill>
            <a:srgbClr val="FFF4D7"/>
          </a:solidFill>
          <a:ln w="1905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874519"/>
            <a:ext cx="310896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11010"/>
                </a:solidFill>
                <a:latin typeface="Cascadia Code SemiBold" panose="020B0609020000020004"/>
              </a:rPr>
              <a:t>Что увидел</a:t>
            </a:r>
            <a:endParaRPr sz="1600" b="1" i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412480" y="2331720"/>
            <a:ext cx="3108960" cy="141731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11010"/>
                </a:solidFill>
                <a:latin typeface="Tahoma" panose="020B0604030504040204"/>
              </a:rPr>
              <a:t>Анкеты 4-й волны, брошенные на середине, заполнены почти одинаково</a:t>
            </a:r>
            <a:endParaRPr sz="1400" b="0" i="0">
              <a:solidFill>
                <a:srgbClr val="111010"/>
              </a:solidFill>
              <a:latin typeface="Tahoma" panose="020B0604030504040204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229600" y="4069080"/>
            <a:ext cx="3474720" cy="2103120"/>
          </a:xfrm>
          <a:prstGeom prst="roundRect">
            <a:avLst>
              <a:gd name="adj" fmla="val 12000"/>
            </a:avLst>
          </a:prstGeom>
          <a:solidFill>
            <a:srgbClr val="FFE699"/>
          </a:solidFill>
          <a:ln w="1905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4206240"/>
            <a:ext cx="310896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11010"/>
                </a:solidFill>
                <a:latin typeface="Cascadia Code SemiBold" panose="020B0609020000020004"/>
              </a:rPr>
              <a:t>Что сделал</a:t>
            </a:r>
            <a:endParaRPr sz="1600" b="1" i="0">
              <a:solidFill>
                <a:srgbClr val="111010"/>
              </a:solidFill>
              <a:latin typeface="Cascadia Code SemiBold" panose="020B06090200000200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0" y="4663440"/>
            <a:ext cx="3108960" cy="141731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11010"/>
                </a:solidFill>
                <a:latin typeface="Tahoma" panose="020B0604030504040204"/>
              </a:rPr>
              <a:t>Ответы первого блока этих анкет → пропуски. Строки не удалял</a:t>
            </a:r>
            <a:endParaRPr sz="1400" b="0" i="0">
              <a:solidFill>
                <a:srgbClr val="111010"/>
              </a:solidFill>
              <a:latin typeface="Tahoma" panose="020B060403050404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7090</Words>
  <Application>WPS Presentation</Application>
  <PresentationFormat>On-screen Show (4:3)</PresentationFormat>
  <Paragraphs>681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32" baseType="lpstr">
      <vt:lpstr>Arial</vt:lpstr>
      <vt:lpstr>SimSun</vt:lpstr>
      <vt:lpstr>Wingdings</vt:lpstr>
      <vt:lpstr>Arial</vt:lpstr>
      <vt:lpstr>Cascadia Code SemiBold</vt:lpstr>
      <vt:lpstr>Tahoma</vt:lpstr>
      <vt:lpstr>Arial Black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Пётр Тортев</cp:lastModifiedBy>
  <cp:revision>2</cp:revision>
  <dcterms:created xsi:type="dcterms:W3CDTF">2013-01-27T09:14:00Z</dcterms:created>
  <dcterms:modified xsi:type="dcterms:W3CDTF">2026-10-11T18:38:11Z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FC1CD2C6C9624C9DA0075C719DDA33CF_12</vt:lpwstr>
  </property>
  <property fmtid="{D5CDD505-2E9C-101B-9397-08002B2CF9AE}" pid="3" name="KSOProductBuildVer">
    <vt:lpwstr>1049-12.1.0.28485</vt:lpwstr>
  </property>
</Properties>
</file>