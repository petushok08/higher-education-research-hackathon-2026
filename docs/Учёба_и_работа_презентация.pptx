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Брошены на середине</c:v>
                </c:pt>
              </c:strCache>
            </c:strRef>
          </c:tx>
          <c:spPr>
            <a:solidFill>
              <a:srgbClr val="C55A11"/>
            </a:solidFill>
            <a:ln>
              <a:solidFill>
                <a:srgbClr val="C55A11"/>
              </a:solidFill>
            </a:ln>
          </c:spPr>
          <c:cat>
            <c:strRef>
              <c:f>Sheet1!$A$2:$A$3</c:f>
              <c:strCache>
                <c:ptCount val="2"/>
                <c:pt idx="0">
                  <c:v>Другой вуз
и специальность</c:v>
                </c:pt>
                <c:pt idx="1">
                  <c:v>Только
пятёрки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96.8</c:v>
                </c:pt>
                <c:pt idx="1">
                  <c:v>93.0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Завершённые</c:v>
                </c:pt>
              </c:strCache>
            </c:strRef>
          </c:tx>
          <c:spPr>
            <a:solidFill>
              <a:srgbClr val="FFD966"/>
            </a:solidFill>
            <a:ln>
              <a:solidFill>
                <a:srgbClr val="FFD966"/>
              </a:solidFill>
            </a:ln>
          </c:spPr>
          <c:cat>
            <c:strRef>
              <c:f>Sheet1!$A$2:$A$3</c:f>
              <c:strCache>
                <c:ptCount val="2"/>
                <c:pt idx="0">
                  <c:v>Другой вуз
и специальность</c:v>
                </c:pt>
                <c:pt idx="1">
                  <c:v>Только
пятёрки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19.7</c:v>
                </c:pt>
                <c:pt idx="1">
                  <c:v>22.0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 val="0"/>
        <c:axPos val="l"/>
        <c:numFmt formatCode="0" sourceLinked="0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Tahom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 курс</c:v>
                </c:pt>
              </c:strCache>
            </c:strRef>
          </c:tx>
          <c:spPr>
            <a:solidFill>
              <a:srgbClr val="FFD966"/>
            </a:solidFill>
            <a:ln>
              <a:solidFill>
                <a:srgbClr val="FFD966"/>
              </a:solidFill>
            </a:ln>
          </c:spPr>
          <c:cat>
            <c:strRef>
              <c:f>Sheet1!$A$2:$A$5</c:f>
              <c:strCache>
                <c:ptCount val="4"/>
                <c:pt idx="0">
                  <c:v>Полный день</c:v>
                </c:pt>
                <c:pt idx="1">
                  <c:v>Неполный день</c:v>
                </c:pt>
                <c:pt idx="2">
                  <c:v>Приработки</c:v>
                </c:pt>
                <c:pt idx="3">
                  <c:v>Не работает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21.0</c:v>
                </c:pt>
                <c:pt idx="2">
                  <c:v>19.0</c:v>
                </c:pt>
                <c:pt idx="3">
                  <c:v>56.0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 курс</c:v>
                </c:pt>
              </c:strCache>
            </c:strRef>
          </c:tx>
          <c:spPr>
            <a:solidFill>
              <a:srgbClr val="C55A11"/>
            </a:solidFill>
            <a:ln>
              <a:solidFill>
                <a:srgbClr val="C55A11"/>
              </a:solidFill>
            </a:ln>
          </c:spPr>
          <c:cat>
            <c:strRef>
              <c:f>Sheet1!$A$2:$A$5</c:f>
              <c:strCache>
                <c:ptCount val="4"/>
                <c:pt idx="0">
                  <c:v>Полный день</c:v>
                </c:pt>
                <c:pt idx="1">
                  <c:v>Неполный день</c:v>
                </c:pt>
                <c:pt idx="2">
                  <c:v>Приработки</c:v>
                </c:pt>
                <c:pt idx="3">
                  <c:v>Не работает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9.2</c:v>
                </c:pt>
                <c:pt idx="1">
                  <c:v>20.4</c:v>
                </c:pt>
                <c:pt idx="2">
                  <c:v>18.7</c:v>
                </c:pt>
                <c:pt idx="3">
                  <c:v>51.8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5.0"/>
          <c:min val="0.0"/>
        </c:scaling>
        <c:delete val="0"/>
        <c:axPos val="l"/>
        <c:numFmt formatCode="0" sourceLinked="0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Tahom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 курс</c:v>
                </c:pt>
              </c:strCache>
            </c:strRef>
          </c:tx>
          <c:spPr>
            <a:solidFill>
              <a:srgbClr val="FFD966"/>
            </a:solidFill>
            <a:ln>
              <a:solidFill>
                <a:srgbClr val="FFD966"/>
              </a:solidFill>
            </a:ln>
          </c:spPr>
          <c:cat>
            <c:strRef>
              <c:f>Sheet1!$A$2:$A$5</c:f>
              <c:strCache>
                <c:ptCount val="4"/>
                <c:pt idx="0">
                  <c:v>Полный
день</c:v>
                </c:pt>
                <c:pt idx="1">
                  <c:v>Неполный
день</c:v>
                </c:pt>
                <c:pt idx="2">
                  <c:v>Приработки</c:v>
                </c:pt>
                <c:pt idx="3">
                  <c:v>Не
работает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45.8</c:v>
                </c:pt>
                <c:pt idx="1">
                  <c:v>61.1</c:v>
                </c:pt>
                <c:pt idx="2">
                  <c:v>53.8</c:v>
                </c:pt>
                <c:pt idx="3">
                  <c:v>54.0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 курс</c:v>
                </c:pt>
              </c:strCache>
            </c:strRef>
          </c:tx>
          <c:spPr>
            <a:solidFill>
              <a:srgbClr val="C55A11"/>
            </a:solidFill>
            <a:ln>
              <a:solidFill>
                <a:srgbClr val="C55A11"/>
              </a:solidFill>
            </a:ln>
          </c:spPr>
          <c:cat>
            <c:strRef>
              <c:f>Sheet1!$A$2:$A$5</c:f>
              <c:strCache>
                <c:ptCount val="4"/>
                <c:pt idx="0">
                  <c:v>Полный
день</c:v>
                </c:pt>
                <c:pt idx="1">
                  <c:v>Неполный
день</c:v>
                </c:pt>
                <c:pt idx="2">
                  <c:v>Приработки</c:v>
                </c:pt>
                <c:pt idx="3">
                  <c:v>Не
работает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54.9</c:v>
                </c:pt>
                <c:pt idx="1">
                  <c:v>61.5</c:v>
                </c:pt>
                <c:pt idx="2">
                  <c:v>54.9</c:v>
                </c:pt>
                <c:pt idx="3">
                  <c:v>63.3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numFmt formatCode="0" sourceLinked="0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Tahoma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Изменение, п.п.</c:v>
                </c:pt>
              </c:strCache>
            </c:strRef>
          </c:tx>
          <c:spPr>
            <a:solidFill>
              <a:srgbClr val="FFD966"/>
            </a:solidFill>
            <a:ln>
              <a:solidFill>
                <a:srgbClr val="FFD966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Не работал → не работает</c:v>
                </c:pt>
                <c:pt idx="1">
                  <c:v>Начал работать</c:v>
                </c:pt>
                <c:pt idx="2">
                  <c:v>Перестал работать</c:v>
                </c:pt>
                <c:pt idx="3">
                  <c:v>Работал → работает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7.9</c:v>
                </c:pt>
                <c:pt idx="1">
                  <c:v>7.1</c:v>
                </c:pt>
                <c:pt idx="2">
                  <c:v>3.1</c:v>
                </c:pt>
                <c:pt idx="3">
                  <c:v>-1.7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D8D8D8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numFmt formatCode="0" sourceLinked="0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Tahoma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Мой проект — про студентов, которые совмещают учёбу и работу. По данным лонгитюда ВШЭ я выяснял, когда работа помогает учиться, а когда мешает.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Почти половина студентов работает, и для четверти–трети задумывавшихся об отчислении это одна из причин. Поэтому важно понять не «хорошо или плохо работать», а при каких условиях работа помогает, а при каких мешает.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— лонгитюд ВШЭ: одни и те же студенты на 3 и 4 курсе. При проверке я нашёл 599 анкет 4-й волны, заполненных шаблонно и брошенных на середине, и очистил их — иначе выводы были бы ложными.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в основном порядковые и не нормальные, поэтому я использую непараметрические тесты. Результаты «да/нет» оцениваю логистической регрессией с контролем характеристик студента.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Работают 44% на 3 курсе и 48% на 4-м. Чаще неполный день и приработки, полный день к 4 курсу встречается вдвое чаще. Около 70% работают ради денег, и только у половины работа связана со специальностью.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Оценки работающих и неработающих не различаются (Манн–Уитни: p = 0.57 и 0.15). В лонгитюде у тех, кто начал работать, оценки выросли так же, как у неработающих (p = 0.80).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65760"/>
            <a:ext cx="1005840" cy="1005840"/>
          </a:xfrm>
          <a:prstGeom prst="rect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502920"/>
            <a:ext cx="1005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11010"/>
                </a:solidFill>
                <a:latin typeface="Cascadia Code SemiBold"/>
              </a:rPr>
              <a:t>ИВО</a:t>
            </a:r>
          </a:p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11010"/>
                </a:solidFill>
                <a:latin typeface="Cascadia Code SemiBold"/>
              </a:rPr>
              <a:t>2026</a:t>
            </a:r>
          </a:p>
        </p:txBody>
      </p:sp>
      <p:pic>
        <p:nvPicPr>
          <p:cNvPr id="4" name="Picture 3" descr="stri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-82296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737360"/>
            <a:ext cx="786384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111010"/>
                </a:solidFill>
                <a:latin typeface="Cascadia Code SemiBold"/>
              </a:rPr>
              <a:t>Учёба + работа:</a:t>
            </a:r>
          </a:p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111010"/>
                </a:solidFill>
                <a:latin typeface="Cascadia Code SemiBold"/>
              </a:rPr>
              <a:t>польза или помеха?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86200"/>
            <a:ext cx="749807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11010"/>
                </a:solidFill>
                <a:latin typeface="Tahoma"/>
              </a:rPr>
              <a:t>Как совмещение учёбы и работы связано с успеваемостью, образовательным опытом и здоровьем студентов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89204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11010"/>
                </a:solidFill>
                <a:latin typeface="Cascadia Code SemiBold"/>
              </a:rPr>
              <a:t>Пётр Тортев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848484"/>
                </a:solidFill>
                <a:latin typeface="Tahoma"/>
              </a:rPr>
              <a:t>Номинация «Анализ данных»</a:t>
            </a:r>
          </a:p>
        </p:txBody>
      </p:sp>
      <p:pic>
        <p:nvPicPr>
          <p:cNvPr id="9" name="Мем" descr="s1_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743200"/>
            <a:ext cx="3017520" cy="3017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400800"/>
            <a:ext cx="12191695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111010"/>
                </a:solidFill>
                <a:latin typeface="Tahoma"/>
              </a:rPr>
              <a:t>ХАКАТОН ИССЛЕДОВАТЕЛЕЙ ВЫСШЕГО ОБРАЗОВАНИЯ – 2026 · НИУ ВШЭ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137160" y="164592"/>
            <a:ext cx="2514600" cy="384048"/>
          </a:xfrm>
          <a:prstGeom prst="homePlate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111010"/>
                </a:solidFill>
                <a:latin typeface="Cascadia Code SemiBold"/>
              </a:rPr>
              <a:t>ВОПРОС</a:t>
            </a:r>
          </a:p>
        </p:txBody>
      </p:sp>
      <p:sp>
        <p:nvSpPr>
          <p:cNvPr id="3" name="Chevron 2"/>
          <p:cNvSpPr/>
          <p:nvPr/>
        </p:nvSpPr>
        <p:spPr>
          <a:xfrm>
            <a:off x="2468879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ДАННЫЕ</a:t>
            </a:r>
          </a:p>
        </p:txBody>
      </p:sp>
      <p:sp>
        <p:nvSpPr>
          <p:cNvPr id="4" name="Chevron 3"/>
          <p:cNvSpPr/>
          <p:nvPr/>
        </p:nvSpPr>
        <p:spPr>
          <a:xfrm>
            <a:off x="4800600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МЕТОДЫ</a:t>
            </a:r>
          </a:p>
        </p:txBody>
      </p:sp>
      <p:sp>
        <p:nvSpPr>
          <p:cNvPr id="5" name="Chevron 4"/>
          <p:cNvSpPr/>
          <p:nvPr/>
        </p:nvSpPr>
        <p:spPr>
          <a:xfrm>
            <a:off x="7132320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РЕЗУЛЬТАТЫ</a:t>
            </a:r>
          </a:p>
        </p:txBody>
      </p:sp>
      <p:sp>
        <p:nvSpPr>
          <p:cNvPr id="6" name="Chevron 5"/>
          <p:cNvSpPr/>
          <p:nvPr/>
        </p:nvSpPr>
        <p:spPr>
          <a:xfrm>
            <a:off x="9464040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ВЫВОДЫ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783080" cy="91440"/>
          </a:xfrm>
          <a:prstGeom prst="rect">
            <a:avLst/>
          </a:prstGeom>
          <a:solidFill>
            <a:srgbClr val="11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2743200" cy="128016"/>
          </a:xfrm>
          <a:prstGeom prst="rect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48484"/>
                </a:solidFill>
                <a:latin typeface="Tahom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111010"/>
                </a:solidFill>
                <a:latin typeface="Arial Black"/>
              </a:rPr>
              <a:t>Исследовательский вопрос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11064240" cy="1325880"/>
          </a:xfrm>
          <a:prstGeom prst="roundRect">
            <a:avLst>
              <a:gd name="adj" fmla="val 45000"/>
            </a:avLst>
          </a:prstGeom>
          <a:solidFill>
            <a:srgbClr val="FFE699"/>
          </a:solidFill>
          <a:ln w="2540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91640"/>
            <a:ext cx="1033272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 i="0">
                <a:solidFill>
                  <a:srgbClr val="111010"/>
                </a:solidFill>
                <a:latin typeface="Cascadia Code SemiBold"/>
              </a:rPr>
              <a:t>В каких аспектах совмещение учёбы и работы приносит студентам пользу, а в каких — создаёт дополнительные трудности?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11010"/>
                </a:solidFill>
                <a:latin typeface="Cascadia Code SemiBold"/>
              </a:rPr>
              <a:t>Почему это важно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3520440" cy="2514600"/>
          </a:xfrm>
          <a:prstGeom prst="roundRect">
            <a:avLst>
              <a:gd name="adj" fmla="val 10000"/>
            </a:avLst>
          </a:prstGeom>
          <a:solidFill>
            <a:srgbClr val="FFF4D7"/>
          </a:solidFill>
          <a:ln w="15875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49039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C55A11"/>
                </a:solidFill>
                <a:latin typeface="Cascadia Code SemiBold"/>
              </a:rPr>
              <a:t>44–48%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310896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010"/>
                </a:solidFill>
                <a:latin typeface="Tahoma"/>
              </a:rPr>
              <a:t>студентов работают во время учёбы — это массовое явление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3611880"/>
            <a:ext cx="3520440" cy="2514600"/>
          </a:xfrm>
          <a:prstGeom prst="roundRect">
            <a:avLst>
              <a:gd name="adj" fmla="val 10000"/>
            </a:avLst>
          </a:prstGeom>
          <a:solidFill>
            <a:srgbClr val="FFF4D7"/>
          </a:solidFill>
          <a:ln w="15875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3749039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C55A11"/>
                </a:solidFill>
                <a:latin typeface="Cascadia Code SemiBold"/>
              </a:rPr>
              <a:t>25–30%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4617720"/>
            <a:ext cx="310896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010"/>
                </a:solidFill>
                <a:latin typeface="Tahoma"/>
              </a:rPr>
              <a:t>задумывавшихся об отчислении называют причиной трудности совмещения учёбы и работы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611880"/>
            <a:ext cx="3520440" cy="2514600"/>
          </a:xfrm>
          <a:prstGeom prst="roundRect">
            <a:avLst>
              <a:gd name="adj" fmla="val 10000"/>
            </a:avLst>
          </a:prstGeom>
          <a:solidFill>
            <a:srgbClr val="FFF4D7"/>
          </a:solidFill>
          <a:ln w="15875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3749039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11010"/>
                </a:solidFill>
                <a:latin typeface="Cascadia Code SemiBold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617720"/>
            <a:ext cx="310896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010"/>
                </a:solidFill>
                <a:latin typeface="Tahoma"/>
              </a:rPr>
              <a:t>работа даёт опыт и деньги, но отнимает время у учёбы и сна — итоговый эффект неочевиден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137160" y="164592"/>
            <a:ext cx="2514600" cy="384048"/>
          </a:xfrm>
          <a:prstGeom prst="homePlate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ВОПРОС</a:t>
            </a:r>
          </a:p>
        </p:txBody>
      </p:sp>
      <p:sp>
        <p:nvSpPr>
          <p:cNvPr id="3" name="Chevron 2"/>
          <p:cNvSpPr/>
          <p:nvPr/>
        </p:nvSpPr>
        <p:spPr>
          <a:xfrm>
            <a:off x="2468879" y="164592"/>
            <a:ext cx="2514600" cy="384048"/>
          </a:xfrm>
          <a:prstGeom prst="chevron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111010"/>
                </a:solidFill>
                <a:latin typeface="Cascadia Code SemiBold"/>
              </a:rPr>
              <a:t>ДАННЫЕ</a:t>
            </a:r>
          </a:p>
        </p:txBody>
      </p:sp>
      <p:sp>
        <p:nvSpPr>
          <p:cNvPr id="4" name="Chevron 3"/>
          <p:cNvSpPr/>
          <p:nvPr/>
        </p:nvSpPr>
        <p:spPr>
          <a:xfrm>
            <a:off x="4800600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МЕТОДЫ</a:t>
            </a:r>
          </a:p>
        </p:txBody>
      </p:sp>
      <p:sp>
        <p:nvSpPr>
          <p:cNvPr id="5" name="Chevron 4"/>
          <p:cNvSpPr/>
          <p:nvPr/>
        </p:nvSpPr>
        <p:spPr>
          <a:xfrm>
            <a:off x="7132320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РЕЗУЛЬТАТЫ</a:t>
            </a:r>
          </a:p>
        </p:txBody>
      </p:sp>
      <p:sp>
        <p:nvSpPr>
          <p:cNvPr id="6" name="Chevron 5"/>
          <p:cNvSpPr/>
          <p:nvPr/>
        </p:nvSpPr>
        <p:spPr>
          <a:xfrm>
            <a:off x="9464040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ВЫВОДЫ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783080" cy="91440"/>
          </a:xfrm>
          <a:prstGeom prst="rect">
            <a:avLst/>
          </a:prstGeom>
          <a:solidFill>
            <a:srgbClr val="11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2743200" cy="128016"/>
          </a:xfrm>
          <a:prstGeom prst="rect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48484"/>
                </a:solidFill>
                <a:latin typeface="Tahom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111010"/>
                </a:solidFill>
                <a:latin typeface="Arial Black"/>
              </a:rPr>
              <a:t>Источник данных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5486400" cy="2148840"/>
          </a:xfrm>
          <a:prstGeom prst="roundRect">
            <a:avLst>
              <a:gd name="adj" fmla="val 12000"/>
            </a:avLst>
          </a:prstGeom>
          <a:solidFill>
            <a:srgbClr val="FFF4D7"/>
          </a:solidFill>
          <a:ln w="19050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1010"/>
                </a:solidFill>
                <a:latin typeface="Cascadia Code SemiBold"/>
              </a:rPr>
              <a:t>Лонгитюд ИО НИУ ВШЭ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6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11010"/>
                </a:solidFill>
                <a:latin typeface="Tahoma"/>
              </a:rPr>
              <a:t>«Модели образовательного поведения студентов в их связи с показателями успешности»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11010"/>
                </a:solidFill>
                <a:latin typeface="Tahoma"/>
              </a:rPr>
              <a:t>9 селективных вузов · многоступенчатая выборка: направления → группы → сплошной опрос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11010"/>
                </a:solidFill>
                <a:latin typeface="Cascadia Code SemiBold"/>
              </a:rPr>
              <a:t>1 236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010"/>
                </a:solidFill>
                <a:latin typeface="Tahoma"/>
              </a:rPr>
              <a:t>студентов
3 курс (2024/25)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931920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11010"/>
                </a:solidFill>
                <a:latin typeface="Cascadia Code SemiBold"/>
              </a:rPr>
              <a:t>914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84632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010"/>
                </a:solidFill>
                <a:latin typeface="Tahoma"/>
              </a:rPr>
              <a:t>полных анкет
4 курс (2025/26)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931920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11010"/>
                </a:solidFill>
                <a:latin typeface="Cascadia Code SemiBold"/>
              </a:rPr>
              <a:t>724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846320"/>
            <a:ext cx="20116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010"/>
                </a:solidFill>
                <a:latin typeface="Tahoma"/>
              </a:rPr>
              <a:t>в обеих волнах
(сравнение с собой)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55778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48484"/>
                </a:solidFill>
                <a:latin typeface="Tahoma"/>
              </a:rPr>
              <a:t>Переменные: занятость (тип, часы, сфера, мотив), учёба (оценки, удовлетворённость, мысли об отчислении), здоровье (сон, спорт, курение, алкоголь)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55448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1010"/>
                </a:solidFill>
                <a:latin typeface="Cascadia Code SemiBold"/>
              </a:rPr>
              <a:t>Качество: 599 «прокликанных» анкет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400800" y="1965960"/>
          <a:ext cx="539496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92240" y="5577840"/>
            <a:ext cx="530352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48484"/>
                </a:solidFill>
                <a:latin typeface="Tahoma"/>
              </a:rPr>
              <a:t>Ответы этих анкет заменены на пропуски, строки сохранены. Пустые строки удалены, выбросы в часах работы исправлены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137160" y="164592"/>
            <a:ext cx="2514600" cy="384048"/>
          </a:xfrm>
          <a:prstGeom prst="homePlate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ВОПРОС</a:t>
            </a:r>
          </a:p>
        </p:txBody>
      </p:sp>
      <p:sp>
        <p:nvSpPr>
          <p:cNvPr id="3" name="Chevron 2"/>
          <p:cNvSpPr/>
          <p:nvPr/>
        </p:nvSpPr>
        <p:spPr>
          <a:xfrm>
            <a:off x="2468879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ДАННЫЕ</a:t>
            </a:r>
          </a:p>
        </p:txBody>
      </p:sp>
      <p:sp>
        <p:nvSpPr>
          <p:cNvPr id="4" name="Chevron 3"/>
          <p:cNvSpPr/>
          <p:nvPr/>
        </p:nvSpPr>
        <p:spPr>
          <a:xfrm>
            <a:off x="4800600" y="164592"/>
            <a:ext cx="2514600" cy="384048"/>
          </a:xfrm>
          <a:prstGeom prst="chevron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111010"/>
                </a:solidFill>
                <a:latin typeface="Cascadia Code SemiBold"/>
              </a:rPr>
              <a:t>МЕТОДЫ</a:t>
            </a:r>
          </a:p>
        </p:txBody>
      </p:sp>
      <p:sp>
        <p:nvSpPr>
          <p:cNvPr id="5" name="Chevron 4"/>
          <p:cNvSpPr/>
          <p:nvPr/>
        </p:nvSpPr>
        <p:spPr>
          <a:xfrm>
            <a:off x="7132320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РЕЗУЛЬТАТЫ</a:t>
            </a:r>
          </a:p>
        </p:txBody>
      </p:sp>
      <p:sp>
        <p:nvSpPr>
          <p:cNvPr id="6" name="Chevron 5"/>
          <p:cNvSpPr/>
          <p:nvPr/>
        </p:nvSpPr>
        <p:spPr>
          <a:xfrm>
            <a:off x="9464040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ВЫВОДЫ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783080" cy="91440"/>
          </a:xfrm>
          <a:prstGeom prst="rect">
            <a:avLst/>
          </a:prstGeom>
          <a:solidFill>
            <a:srgbClr val="11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2743200" cy="128016"/>
          </a:xfrm>
          <a:prstGeom prst="rect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48484"/>
                </a:solidFill>
                <a:latin typeface="Tahom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111010"/>
                </a:solidFill>
                <a:latin typeface="Arial Black"/>
              </a:rPr>
              <a:t>Методы анализа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2011680" cy="2514600"/>
          </a:xfrm>
          <a:prstGeom prst="roundRect">
            <a:avLst>
              <a:gd name="adj" fmla="val 10000"/>
            </a:avLst>
          </a:prstGeom>
          <a:solidFill>
            <a:srgbClr val="FFF4D7"/>
          </a:solidFill>
          <a:ln w="15875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80160" y="1463040"/>
            <a:ext cx="548640" cy="548640"/>
          </a:xfrm>
          <a:prstGeom prst="ellipse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46304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11010"/>
                </a:solidFill>
                <a:latin typeface="Cascadia Code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11010"/>
                </a:solidFill>
                <a:latin typeface="Cascadia Code SemiBold"/>
              </a:rPr>
              <a:t>Предобработка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18288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типы, выбросы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(3·IQR), служебные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коды, очистка анкет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78608" y="2788920"/>
            <a:ext cx="237744" cy="320040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34640" y="1691640"/>
            <a:ext cx="2011680" cy="2514600"/>
          </a:xfrm>
          <a:prstGeom prst="roundRect">
            <a:avLst>
              <a:gd name="adj" fmla="val 10000"/>
            </a:avLst>
          </a:prstGeom>
          <a:solidFill>
            <a:srgbClr val="FFE699"/>
          </a:solidFill>
          <a:ln w="15875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66160" y="1463040"/>
            <a:ext cx="548640" cy="548640"/>
          </a:xfrm>
          <a:prstGeom prst="ellipse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46304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11010"/>
                </a:solidFill>
                <a:latin typeface="Cascadia Code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10312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11010"/>
                </a:solidFill>
                <a:latin typeface="Cascadia Code SemiBold"/>
              </a:rPr>
              <a:t>Описательный</a:t>
            </a:r>
          </a:p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11010"/>
                </a:solidFill>
                <a:latin typeface="Cascadia Code SemiBold"/>
              </a:rPr>
              <a:t>анализ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880360"/>
            <a:ext cx="18288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доли по волнам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и группам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занятости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64608" y="2788920"/>
            <a:ext cx="237744" cy="320040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0640" y="1691640"/>
            <a:ext cx="2011680" cy="2514600"/>
          </a:xfrm>
          <a:prstGeom prst="roundRect">
            <a:avLst>
              <a:gd name="adj" fmla="val 10000"/>
            </a:avLst>
          </a:prstGeom>
          <a:solidFill>
            <a:srgbClr val="FFF4D7"/>
          </a:solidFill>
          <a:ln w="15875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52159" y="1463040"/>
            <a:ext cx="548640" cy="548640"/>
          </a:xfrm>
          <a:prstGeom prst="ellipse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59" y="146304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11010"/>
                </a:solidFill>
                <a:latin typeface="Cascadia Code Semi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210312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11010"/>
                </a:solidFill>
                <a:latin typeface="Cascadia Code SemiBold"/>
              </a:rPr>
              <a:t>Корреляции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2880360"/>
            <a:ext cx="18288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Спирмен; нормальность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по Шапиро–Уилку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отвергнута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150608" y="2788920"/>
            <a:ext cx="237744" cy="320040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06640" y="1691640"/>
            <a:ext cx="2011680" cy="2514600"/>
          </a:xfrm>
          <a:prstGeom prst="roundRect">
            <a:avLst>
              <a:gd name="adj" fmla="val 10000"/>
            </a:avLst>
          </a:prstGeom>
          <a:solidFill>
            <a:srgbClr val="FFE699"/>
          </a:solidFill>
          <a:ln w="15875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60" y="1463040"/>
            <a:ext cx="548640" cy="548640"/>
          </a:xfrm>
          <a:prstGeom prst="ellipse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146304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11010"/>
                </a:solidFill>
                <a:latin typeface="Cascadia Code Semi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10312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11010"/>
                </a:solidFill>
                <a:latin typeface="Cascadia Code SemiBold"/>
              </a:rPr>
              <a:t>7 гипотез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2880360"/>
            <a:ext cx="18288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Манн–Уитни, χ² +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V Крамера, Уилкоксон,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Бонферрони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436608" y="2788920"/>
            <a:ext cx="237744" cy="320040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92640" y="1691640"/>
            <a:ext cx="2011680" cy="2514600"/>
          </a:xfrm>
          <a:prstGeom prst="roundRect">
            <a:avLst>
              <a:gd name="adj" fmla="val 10000"/>
            </a:avLst>
          </a:prstGeom>
          <a:solidFill>
            <a:srgbClr val="FFF4D7"/>
          </a:solidFill>
          <a:ln w="15875">
            <a:solidFill>
              <a:srgbClr val="FFD9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24160" y="1463040"/>
            <a:ext cx="548640" cy="548640"/>
          </a:xfrm>
          <a:prstGeom prst="ellipse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0" y="146304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11010"/>
                </a:solidFill>
                <a:latin typeface="Cascadia Code SemiBold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10312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11010"/>
                </a:solidFill>
                <a:latin typeface="Cascadia Code SemiBold"/>
              </a:rPr>
              <a:t>Регрессия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880360"/>
            <a:ext cx="18288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логистическая (OR),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контроль пола,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11010"/>
                </a:solidFill>
                <a:latin typeface="Tahoma"/>
              </a:rPr>
              <a:t>направления, финансов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48056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1010"/>
                </a:solidFill>
                <a:latin typeface="Cascadia Code SemiBold"/>
              </a:rPr>
              <a:t>Почему такие методы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89204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11010"/>
                </a:solidFill>
                <a:latin typeface="Tahoma"/>
              </a:rPr>
              <a:t>Распределения не нормальные </a:t>
            </a:r>
            <a:r>
              <a:rPr sz="1400" b="0" i="0">
                <a:solidFill>
                  <a:srgbClr val="111010"/>
                </a:solidFill>
                <a:latin typeface="Tahoma"/>
              </a:rPr>
              <a:t>и шкалы порядковые → Спирмен и Манн–Уитни вместо Пирсона и t-теста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34924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11010"/>
                </a:solidFill>
                <a:latin typeface="Tahoma"/>
              </a:rPr>
              <a:t>Результаты «да/нет» </a:t>
            </a:r>
            <a:r>
              <a:rPr sz="1400" b="0" i="0">
                <a:solidFill>
                  <a:srgbClr val="111010"/>
                </a:solidFill>
                <a:latin typeface="Tahoma"/>
              </a:rPr>
              <a:t>(хорошие оценки, мысли об отчислении) → логистическая регрессия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80644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11010"/>
                </a:solidFill>
                <a:latin typeface="Tahoma"/>
              </a:rPr>
              <a:t>Один студент — две волны </a:t>
            </a:r>
            <a:r>
              <a:rPr sz="1400" b="0" i="0">
                <a:solidFill>
                  <a:srgbClr val="111010"/>
                </a:solidFill>
                <a:latin typeface="Tahoma"/>
              </a:rPr>
              <a:t>→ тесты по волнам отдельно, ошибки регрессии кластеризованы по студенту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137160" y="164592"/>
            <a:ext cx="2514600" cy="384048"/>
          </a:xfrm>
          <a:prstGeom prst="homePlate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ВОПРОС</a:t>
            </a:r>
          </a:p>
        </p:txBody>
      </p:sp>
      <p:sp>
        <p:nvSpPr>
          <p:cNvPr id="3" name="Chevron 2"/>
          <p:cNvSpPr/>
          <p:nvPr/>
        </p:nvSpPr>
        <p:spPr>
          <a:xfrm>
            <a:off x="2468879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ДАННЫЕ</a:t>
            </a:r>
          </a:p>
        </p:txBody>
      </p:sp>
      <p:sp>
        <p:nvSpPr>
          <p:cNvPr id="4" name="Chevron 3"/>
          <p:cNvSpPr/>
          <p:nvPr/>
        </p:nvSpPr>
        <p:spPr>
          <a:xfrm>
            <a:off x="4800600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МЕТОДЫ</a:t>
            </a:r>
          </a:p>
        </p:txBody>
      </p:sp>
      <p:sp>
        <p:nvSpPr>
          <p:cNvPr id="5" name="Chevron 4"/>
          <p:cNvSpPr/>
          <p:nvPr/>
        </p:nvSpPr>
        <p:spPr>
          <a:xfrm>
            <a:off x="7132320" y="164592"/>
            <a:ext cx="2514600" cy="384048"/>
          </a:xfrm>
          <a:prstGeom prst="chevron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111010"/>
                </a:solidFill>
                <a:latin typeface="Cascadia Code SemiBold"/>
              </a:rPr>
              <a:t>РЕЗУЛЬТАТЫ</a:t>
            </a:r>
          </a:p>
        </p:txBody>
      </p:sp>
      <p:sp>
        <p:nvSpPr>
          <p:cNvPr id="6" name="Chevron 5"/>
          <p:cNvSpPr/>
          <p:nvPr/>
        </p:nvSpPr>
        <p:spPr>
          <a:xfrm>
            <a:off x="9464040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ВЫВОДЫ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783080" cy="91440"/>
          </a:xfrm>
          <a:prstGeom prst="rect">
            <a:avLst/>
          </a:prstGeom>
          <a:solidFill>
            <a:srgbClr val="11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2743200" cy="128016"/>
          </a:xfrm>
          <a:prstGeom prst="rect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48484"/>
                </a:solidFill>
                <a:latin typeface="Tahom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111010"/>
                </a:solidFill>
                <a:latin typeface="Arial Black"/>
              </a:rPr>
              <a:t>Работает почти половина — в основном ради денег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1600200"/>
          <a:ext cx="694944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955279" y="1645920"/>
            <a:ext cx="3931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55A11"/>
                </a:solidFill>
                <a:latin typeface="Cascadia Code SemiBold"/>
              </a:rPr>
              <a:t>×2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560320"/>
            <a:ext cx="3931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010"/>
                </a:solidFill>
                <a:latin typeface="Tahoma"/>
              </a:rPr>
              <a:t>работа на полный день
к 4 курсу: 4% → 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154680"/>
            <a:ext cx="3931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11010"/>
                </a:solidFill>
                <a:latin typeface="Cascadia Code SemiBold"/>
              </a:rPr>
              <a:t>~70%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069080"/>
            <a:ext cx="3931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010"/>
                </a:solidFill>
                <a:latin typeface="Tahoma"/>
              </a:rPr>
              <a:t>работают ради денег:
содержать себя, доп. доход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663440"/>
            <a:ext cx="3931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11010"/>
                </a:solidFill>
                <a:latin typeface="Cascadia Code SemiBold"/>
              </a:rPr>
              <a:t>51%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577840"/>
            <a:ext cx="3931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11010"/>
                </a:solidFill>
                <a:latin typeface="Tahoma"/>
              </a:rPr>
              <a:t>работают по специальности
(4 курс)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entagon 1"/>
          <p:cNvSpPr/>
          <p:nvPr/>
        </p:nvSpPr>
        <p:spPr>
          <a:xfrm>
            <a:off x="137160" y="164592"/>
            <a:ext cx="2514600" cy="384048"/>
          </a:xfrm>
          <a:prstGeom prst="homePlate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ВОПРОС</a:t>
            </a:r>
          </a:p>
        </p:txBody>
      </p:sp>
      <p:sp>
        <p:nvSpPr>
          <p:cNvPr id="3" name="Chevron 2"/>
          <p:cNvSpPr/>
          <p:nvPr/>
        </p:nvSpPr>
        <p:spPr>
          <a:xfrm>
            <a:off x="2468879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ДАННЫЕ</a:t>
            </a:r>
          </a:p>
        </p:txBody>
      </p:sp>
      <p:sp>
        <p:nvSpPr>
          <p:cNvPr id="4" name="Chevron 3"/>
          <p:cNvSpPr/>
          <p:nvPr/>
        </p:nvSpPr>
        <p:spPr>
          <a:xfrm>
            <a:off x="4800600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МЕТОДЫ</a:t>
            </a:r>
          </a:p>
        </p:txBody>
      </p:sp>
      <p:sp>
        <p:nvSpPr>
          <p:cNvPr id="5" name="Chevron 4"/>
          <p:cNvSpPr/>
          <p:nvPr/>
        </p:nvSpPr>
        <p:spPr>
          <a:xfrm>
            <a:off x="7132320" y="164592"/>
            <a:ext cx="2514600" cy="384048"/>
          </a:xfrm>
          <a:prstGeom prst="chevron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111010"/>
                </a:solidFill>
                <a:latin typeface="Cascadia Code SemiBold"/>
              </a:rPr>
              <a:t>РЕЗУЛЬТАТЫ</a:t>
            </a:r>
          </a:p>
        </p:txBody>
      </p:sp>
      <p:sp>
        <p:nvSpPr>
          <p:cNvPr id="6" name="Chevron 5"/>
          <p:cNvSpPr/>
          <p:nvPr/>
        </p:nvSpPr>
        <p:spPr>
          <a:xfrm>
            <a:off x="9464040" y="164592"/>
            <a:ext cx="2514600" cy="384048"/>
          </a:xfrm>
          <a:prstGeom prst="chevron">
            <a:avLst/>
          </a:prstGeom>
          <a:solidFill>
            <a:srgbClr val="FFF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0">
                <a:solidFill>
                  <a:srgbClr val="111010"/>
                </a:solidFill>
                <a:latin typeface="Cascadia Code SemiBold"/>
              </a:rPr>
              <a:t>ВЫВОДЫ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783080" cy="91440"/>
          </a:xfrm>
          <a:prstGeom prst="rect">
            <a:avLst/>
          </a:prstGeom>
          <a:solidFill>
            <a:srgbClr val="11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2743200" cy="128016"/>
          </a:xfrm>
          <a:prstGeom prst="rect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0" y="635508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848484"/>
                </a:solidFill>
                <a:latin typeface="Tahoma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111010"/>
                </a:solidFill>
                <a:latin typeface="Arial Black"/>
              </a:rPr>
              <a:t>Сама работа учёбе не вредит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0876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48484"/>
                </a:solidFill>
                <a:latin typeface="Tahoma"/>
              </a:rPr>
              <a:t>Доля с хорошими оценками («4 и 5» или «только 5»)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57200" y="1874519"/>
          <a:ext cx="585216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89788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48484"/>
                </a:solidFill>
                <a:latin typeface="Tahoma"/>
              </a:rPr>
              <a:t>Различия незначимы: p = 0.57 (3 курс), 0.15 (4 курс)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50876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48484"/>
                </a:solidFill>
                <a:latin typeface="Tahoma"/>
              </a:rPr>
              <a:t>Изменение доли хороших оценок с 3 на 4 курс, п.п.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492240" y="1874519"/>
          <a:ext cx="5394960" cy="32918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583680" y="5303520"/>
            <a:ext cx="53035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Tahoma"/>
              </a:rPr>
              <a:t>Начал работать </a:t>
            </a:r>
            <a:r>
              <a:rPr sz="1400" b="0" i="0">
                <a:solidFill>
                  <a:srgbClr val="111010"/>
                </a:solidFill>
                <a:latin typeface="Tahoma"/>
              </a:rPr>
              <a:t>— оценки выросли так же, как у неработающих (p = 0.80). Сон тоже не сократился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